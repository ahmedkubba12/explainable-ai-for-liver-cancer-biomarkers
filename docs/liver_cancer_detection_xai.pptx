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7"/>
  </p:notesMasterIdLst>
  <p:sldIdLst>
    <p:sldId id="256" r:id="rId2"/>
    <p:sldId id="426" r:id="rId3"/>
    <p:sldId id="428" r:id="rId4"/>
    <p:sldId id="435" r:id="rId5"/>
    <p:sldId id="436" r:id="rId6"/>
    <p:sldId id="444" r:id="rId7"/>
    <p:sldId id="437" r:id="rId8"/>
    <p:sldId id="438" r:id="rId9"/>
    <p:sldId id="440" r:id="rId10"/>
    <p:sldId id="439" r:id="rId11"/>
    <p:sldId id="443" r:id="rId12"/>
    <p:sldId id="445" r:id="rId13"/>
    <p:sldId id="433" r:id="rId14"/>
    <p:sldId id="432" r:id="rId15"/>
    <p:sldId id="441" r:id="rId16"/>
    <p:sldId id="442" r:id="rId17"/>
    <p:sldId id="448" r:id="rId18"/>
    <p:sldId id="449" r:id="rId19"/>
    <p:sldId id="450" r:id="rId20"/>
    <p:sldId id="451" r:id="rId21"/>
    <p:sldId id="447" r:id="rId22"/>
    <p:sldId id="452" r:id="rId23"/>
    <p:sldId id="453" r:id="rId24"/>
    <p:sldId id="454"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7" d="100"/>
          <a:sy n="87" d="100"/>
        </p:scale>
        <p:origin x="64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96C26B-E8BD-4EE3-BF4F-6887373AA90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7A96DD6-82DD-4132-AF9F-E63AAB00FEEF}">
      <dgm:prSet/>
      <dgm:spPr/>
      <dgm:t>
        <a:bodyPr/>
        <a:lstStyle/>
        <a:p>
          <a:r>
            <a:rPr lang="en-US" dirty="0" err="1"/>
            <a:t>SHapley</a:t>
          </a:r>
          <a:r>
            <a:rPr lang="en-US" dirty="0"/>
            <a:t> Additive </a:t>
          </a:r>
          <a:r>
            <a:rPr lang="en-US" dirty="0" err="1"/>
            <a:t>exPlanations</a:t>
          </a:r>
          <a:r>
            <a:rPr lang="en-US" dirty="0"/>
            <a:t> (SHAP) was used for identifying the most impactful genes in predicting survival outcomes of HCC patients.</a:t>
          </a:r>
        </a:p>
      </dgm:t>
    </dgm:pt>
    <dgm:pt modelId="{EC2AF01E-9DEC-4812-9025-425E002FCD1A}" type="parTrans" cxnId="{DD3D103E-203A-479C-B363-D57A0B68FBB7}">
      <dgm:prSet/>
      <dgm:spPr/>
      <dgm:t>
        <a:bodyPr/>
        <a:lstStyle/>
        <a:p>
          <a:endParaRPr lang="en-US"/>
        </a:p>
      </dgm:t>
    </dgm:pt>
    <dgm:pt modelId="{B4AB3F7B-703B-424B-A89D-CC10E88E80F5}" type="sibTrans" cxnId="{DD3D103E-203A-479C-B363-D57A0B68FBB7}">
      <dgm:prSet/>
      <dgm:spPr/>
      <dgm:t>
        <a:bodyPr/>
        <a:lstStyle/>
        <a:p>
          <a:endParaRPr lang="en-US"/>
        </a:p>
      </dgm:t>
    </dgm:pt>
    <dgm:pt modelId="{91C024DF-C6C0-46C3-8C2E-6CD61C227F0D}">
      <dgm:prSet/>
      <dgm:spPr/>
      <dgm:t>
        <a:bodyPr/>
        <a:lstStyle/>
        <a:p>
          <a:r>
            <a:rPr lang="en-US" dirty="0"/>
            <a:t>Post hoc game theory-based explainer model </a:t>
          </a:r>
        </a:p>
      </dgm:t>
    </dgm:pt>
    <dgm:pt modelId="{678CA4E2-21E3-451B-8F8B-B9CA2B44DE85}" type="parTrans" cxnId="{8D16AF7B-48D5-4955-8459-D93066614BF3}">
      <dgm:prSet/>
      <dgm:spPr/>
      <dgm:t>
        <a:bodyPr/>
        <a:lstStyle/>
        <a:p>
          <a:endParaRPr lang="en-US"/>
        </a:p>
      </dgm:t>
    </dgm:pt>
    <dgm:pt modelId="{A34304F3-C7F0-4327-B3D4-72FEB07FB5E4}" type="sibTrans" cxnId="{8D16AF7B-48D5-4955-8459-D93066614BF3}">
      <dgm:prSet/>
      <dgm:spPr/>
      <dgm:t>
        <a:bodyPr/>
        <a:lstStyle/>
        <a:p>
          <a:endParaRPr lang="en-US"/>
        </a:p>
      </dgm:t>
    </dgm:pt>
    <dgm:pt modelId="{9185799B-39ED-4107-9922-11CC6E7D3F22}">
      <dgm:prSet/>
      <dgm:spPr/>
      <dgm:t>
        <a:bodyPr/>
        <a:lstStyle/>
        <a:p>
          <a:r>
            <a:rPr lang="en-US" dirty="0"/>
            <a:t>Based on the concept of </a:t>
          </a:r>
          <a:r>
            <a:rPr lang="en-US" b="1" dirty="0"/>
            <a:t>Shapley values</a:t>
          </a:r>
          <a:r>
            <a:rPr lang="en-US" dirty="0"/>
            <a:t> from cooperative game theory.</a:t>
          </a:r>
        </a:p>
      </dgm:t>
    </dgm:pt>
    <dgm:pt modelId="{1EA883EF-CC95-4F19-8473-918EC4CA3F72}" type="parTrans" cxnId="{5A8B19AA-04D7-453D-827C-6505B64AC779}">
      <dgm:prSet/>
      <dgm:spPr/>
      <dgm:t>
        <a:bodyPr/>
        <a:lstStyle/>
        <a:p>
          <a:endParaRPr lang="en-US"/>
        </a:p>
      </dgm:t>
    </dgm:pt>
    <dgm:pt modelId="{30BD0D31-51DD-4E8F-AF9D-B8064E672AE2}" type="sibTrans" cxnId="{5A8B19AA-04D7-453D-827C-6505B64AC779}">
      <dgm:prSet/>
      <dgm:spPr/>
      <dgm:t>
        <a:bodyPr/>
        <a:lstStyle/>
        <a:p>
          <a:endParaRPr lang="en-US"/>
        </a:p>
      </dgm:t>
    </dgm:pt>
    <dgm:pt modelId="{C6EEF47A-A668-4029-9E15-8B53FA3C5AF8}" type="pres">
      <dgm:prSet presAssocID="{AD96C26B-E8BD-4EE3-BF4F-6887373AA905}" presName="root" presStyleCnt="0">
        <dgm:presLayoutVars>
          <dgm:dir/>
          <dgm:resizeHandles val="exact"/>
        </dgm:presLayoutVars>
      </dgm:prSet>
      <dgm:spPr/>
    </dgm:pt>
    <dgm:pt modelId="{F585DF73-FAEF-4587-8D62-50242FC2112B}" type="pres">
      <dgm:prSet presAssocID="{A7A96DD6-82DD-4132-AF9F-E63AAB00FEEF}" presName="compNode" presStyleCnt="0"/>
      <dgm:spPr/>
    </dgm:pt>
    <dgm:pt modelId="{60605491-1A9A-4CD2-AA63-C83F5EA9567A}" type="pres">
      <dgm:prSet presAssocID="{A7A96DD6-82DD-4132-AF9F-E63AAB00FEEF}" presName="bgRect" presStyleLbl="bgShp" presStyleIdx="0" presStyleCnt="3"/>
      <dgm:spPr/>
    </dgm:pt>
    <dgm:pt modelId="{DB0BC678-21E9-4F3D-B920-81E981ADD048}" type="pres">
      <dgm:prSet presAssocID="{A7A96DD6-82DD-4132-AF9F-E63AAB00FE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5DC4853E-83DF-452D-9B87-564251BE67D9}" type="pres">
      <dgm:prSet presAssocID="{A7A96DD6-82DD-4132-AF9F-E63AAB00FEEF}" presName="spaceRect" presStyleCnt="0"/>
      <dgm:spPr/>
    </dgm:pt>
    <dgm:pt modelId="{0DA9F16B-A3FC-42C5-BC0B-3F7A48B3693C}" type="pres">
      <dgm:prSet presAssocID="{A7A96DD6-82DD-4132-AF9F-E63AAB00FEEF}" presName="parTx" presStyleLbl="revTx" presStyleIdx="0" presStyleCnt="3">
        <dgm:presLayoutVars>
          <dgm:chMax val="0"/>
          <dgm:chPref val="0"/>
        </dgm:presLayoutVars>
      </dgm:prSet>
      <dgm:spPr/>
    </dgm:pt>
    <dgm:pt modelId="{D222B960-C1C6-400B-A687-51C7BEE960E4}" type="pres">
      <dgm:prSet presAssocID="{B4AB3F7B-703B-424B-A89D-CC10E88E80F5}" presName="sibTrans" presStyleCnt="0"/>
      <dgm:spPr/>
    </dgm:pt>
    <dgm:pt modelId="{7E832117-63A1-4E2D-9197-9242A7AAA124}" type="pres">
      <dgm:prSet presAssocID="{91C024DF-C6C0-46C3-8C2E-6CD61C227F0D}" presName="compNode" presStyleCnt="0"/>
      <dgm:spPr/>
    </dgm:pt>
    <dgm:pt modelId="{C3F95769-AB6D-45BA-A339-37B0030F18EE}" type="pres">
      <dgm:prSet presAssocID="{91C024DF-C6C0-46C3-8C2E-6CD61C227F0D}" presName="bgRect" presStyleLbl="bgShp" presStyleIdx="1" presStyleCnt="3"/>
      <dgm:spPr/>
    </dgm:pt>
    <dgm:pt modelId="{015FDE32-844B-4E68-BB65-A103B24E341F}" type="pres">
      <dgm:prSet presAssocID="{91C024DF-C6C0-46C3-8C2E-6CD61C227F0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ing Cards"/>
        </a:ext>
      </dgm:extLst>
    </dgm:pt>
    <dgm:pt modelId="{C7EF65C8-42B9-4B50-A5DC-5235335D1151}" type="pres">
      <dgm:prSet presAssocID="{91C024DF-C6C0-46C3-8C2E-6CD61C227F0D}" presName="spaceRect" presStyleCnt="0"/>
      <dgm:spPr/>
    </dgm:pt>
    <dgm:pt modelId="{D43FCA1B-23E1-4CAD-B392-17A5E405B8D4}" type="pres">
      <dgm:prSet presAssocID="{91C024DF-C6C0-46C3-8C2E-6CD61C227F0D}" presName="parTx" presStyleLbl="revTx" presStyleIdx="1" presStyleCnt="3">
        <dgm:presLayoutVars>
          <dgm:chMax val="0"/>
          <dgm:chPref val="0"/>
        </dgm:presLayoutVars>
      </dgm:prSet>
      <dgm:spPr/>
    </dgm:pt>
    <dgm:pt modelId="{56119056-6710-4DA4-8AB6-2E8F7CA526F0}" type="pres">
      <dgm:prSet presAssocID="{A34304F3-C7F0-4327-B3D4-72FEB07FB5E4}" presName="sibTrans" presStyleCnt="0"/>
      <dgm:spPr/>
    </dgm:pt>
    <dgm:pt modelId="{EBD61120-8CD1-4ECD-A70A-77B2B96CF297}" type="pres">
      <dgm:prSet presAssocID="{9185799B-39ED-4107-9922-11CC6E7D3F22}" presName="compNode" presStyleCnt="0"/>
      <dgm:spPr/>
    </dgm:pt>
    <dgm:pt modelId="{011E28FA-A79E-4683-87FE-FBCFBA595B79}" type="pres">
      <dgm:prSet presAssocID="{9185799B-39ED-4107-9922-11CC6E7D3F22}" presName="bgRect" presStyleLbl="bgShp" presStyleIdx="2" presStyleCnt="3"/>
      <dgm:spPr/>
    </dgm:pt>
    <dgm:pt modelId="{282F8758-FE3A-4911-83B1-6AB145B97C67}" type="pres">
      <dgm:prSet presAssocID="{9185799B-39ED-4107-9922-11CC6E7D3F2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ss Pieces"/>
        </a:ext>
      </dgm:extLst>
    </dgm:pt>
    <dgm:pt modelId="{422782BF-3C66-4C85-A00F-DA43F5965F8F}" type="pres">
      <dgm:prSet presAssocID="{9185799B-39ED-4107-9922-11CC6E7D3F22}" presName="spaceRect" presStyleCnt="0"/>
      <dgm:spPr/>
    </dgm:pt>
    <dgm:pt modelId="{B4A9A358-38DA-49C3-AE13-EE6BAAF7DC86}" type="pres">
      <dgm:prSet presAssocID="{9185799B-39ED-4107-9922-11CC6E7D3F22}" presName="parTx" presStyleLbl="revTx" presStyleIdx="2" presStyleCnt="3">
        <dgm:presLayoutVars>
          <dgm:chMax val="0"/>
          <dgm:chPref val="0"/>
        </dgm:presLayoutVars>
      </dgm:prSet>
      <dgm:spPr/>
    </dgm:pt>
  </dgm:ptLst>
  <dgm:cxnLst>
    <dgm:cxn modelId="{DD3D103E-203A-479C-B363-D57A0B68FBB7}" srcId="{AD96C26B-E8BD-4EE3-BF4F-6887373AA905}" destId="{A7A96DD6-82DD-4132-AF9F-E63AAB00FEEF}" srcOrd="0" destOrd="0" parTransId="{EC2AF01E-9DEC-4812-9025-425E002FCD1A}" sibTransId="{B4AB3F7B-703B-424B-A89D-CC10E88E80F5}"/>
    <dgm:cxn modelId="{8D16AF7B-48D5-4955-8459-D93066614BF3}" srcId="{AD96C26B-E8BD-4EE3-BF4F-6887373AA905}" destId="{91C024DF-C6C0-46C3-8C2E-6CD61C227F0D}" srcOrd="1" destOrd="0" parTransId="{678CA4E2-21E3-451B-8F8B-B9CA2B44DE85}" sibTransId="{A34304F3-C7F0-4327-B3D4-72FEB07FB5E4}"/>
    <dgm:cxn modelId="{D6B30295-53E3-4647-8233-045E78F54155}" type="presOf" srcId="{91C024DF-C6C0-46C3-8C2E-6CD61C227F0D}" destId="{D43FCA1B-23E1-4CAD-B392-17A5E405B8D4}" srcOrd="0" destOrd="0" presId="urn:microsoft.com/office/officeart/2018/2/layout/IconVerticalSolidList"/>
    <dgm:cxn modelId="{5A8B19AA-04D7-453D-827C-6505B64AC779}" srcId="{AD96C26B-E8BD-4EE3-BF4F-6887373AA905}" destId="{9185799B-39ED-4107-9922-11CC6E7D3F22}" srcOrd="2" destOrd="0" parTransId="{1EA883EF-CC95-4F19-8473-918EC4CA3F72}" sibTransId="{30BD0D31-51DD-4E8F-AF9D-B8064E672AE2}"/>
    <dgm:cxn modelId="{CFF2D0CC-E209-4EC0-A757-B6B8B590CEE3}" type="presOf" srcId="{AD96C26B-E8BD-4EE3-BF4F-6887373AA905}" destId="{C6EEF47A-A668-4029-9E15-8B53FA3C5AF8}" srcOrd="0" destOrd="0" presId="urn:microsoft.com/office/officeart/2018/2/layout/IconVerticalSolidList"/>
    <dgm:cxn modelId="{DC92B8DC-9BAC-4E84-AFEF-6EE66D068BC6}" type="presOf" srcId="{A7A96DD6-82DD-4132-AF9F-E63AAB00FEEF}" destId="{0DA9F16B-A3FC-42C5-BC0B-3F7A48B3693C}" srcOrd="0" destOrd="0" presId="urn:microsoft.com/office/officeart/2018/2/layout/IconVerticalSolidList"/>
    <dgm:cxn modelId="{7767A8EB-7C5E-48E7-908C-08E922F43ADC}" type="presOf" srcId="{9185799B-39ED-4107-9922-11CC6E7D3F22}" destId="{B4A9A358-38DA-49C3-AE13-EE6BAAF7DC86}" srcOrd="0" destOrd="0" presId="urn:microsoft.com/office/officeart/2018/2/layout/IconVerticalSolidList"/>
    <dgm:cxn modelId="{6BB54E94-E1C1-45C5-B38A-0503F1E1EA91}" type="presParOf" srcId="{C6EEF47A-A668-4029-9E15-8B53FA3C5AF8}" destId="{F585DF73-FAEF-4587-8D62-50242FC2112B}" srcOrd="0" destOrd="0" presId="urn:microsoft.com/office/officeart/2018/2/layout/IconVerticalSolidList"/>
    <dgm:cxn modelId="{C6BAC327-4295-451A-93CC-1C40D0933135}" type="presParOf" srcId="{F585DF73-FAEF-4587-8D62-50242FC2112B}" destId="{60605491-1A9A-4CD2-AA63-C83F5EA9567A}" srcOrd="0" destOrd="0" presId="urn:microsoft.com/office/officeart/2018/2/layout/IconVerticalSolidList"/>
    <dgm:cxn modelId="{FB5D0EEC-DDE3-4C93-82E9-88D730B0C9D7}" type="presParOf" srcId="{F585DF73-FAEF-4587-8D62-50242FC2112B}" destId="{DB0BC678-21E9-4F3D-B920-81E981ADD048}" srcOrd="1" destOrd="0" presId="urn:microsoft.com/office/officeart/2018/2/layout/IconVerticalSolidList"/>
    <dgm:cxn modelId="{6F506235-0C1A-4A30-9E6E-1E572CEF9968}" type="presParOf" srcId="{F585DF73-FAEF-4587-8D62-50242FC2112B}" destId="{5DC4853E-83DF-452D-9B87-564251BE67D9}" srcOrd="2" destOrd="0" presId="urn:microsoft.com/office/officeart/2018/2/layout/IconVerticalSolidList"/>
    <dgm:cxn modelId="{5B6D53AB-7193-43CA-9496-947A989C5D6E}" type="presParOf" srcId="{F585DF73-FAEF-4587-8D62-50242FC2112B}" destId="{0DA9F16B-A3FC-42C5-BC0B-3F7A48B3693C}" srcOrd="3" destOrd="0" presId="urn:microsoft.com/office/officeart/2018/2/layout/IconVerticalSolidList"/>
    <dgm:cxn modelId="{64EF0F5B-94B2-490C-A008-FEC732DF1623}" type="presParOf" srcId="{C6EEF47A-A668-4029-9E15-8B53FA3C5AF8}" destId="{D222B960-C1C6-400B-A687-51C7BEE960E4}" srcOrd="1" destOrd="0" presId="urn:microsoft.com/office/officeart/2018/2/layout/IconVerticalSolidList"/>
    <dgm:cxn modelId="{6383040B-64D1-43AB-8CEE-EFC5904395FB}" type="presParOf" srcId="{C6EEF47A-A668-4029-9E15-8B53FA3C5AF8}" destId="{7E832117-63A1-4E2D-9197-9242A7AAA124}" srcOrd="2" destOrd="0" presId="urn:microsoft.com/office/officeart/2018/2/layout/IconVerticalSolidList"/>
    <dgm:cxn modelId="{DD1735EA-2B9A-42FA-BD50-FE7652D583F7}" type="presParOf" srcId="{7E832117-63A1-4E2D-9197-9242A7AAA124}" destId="{C3F95769-AB6D-45BA-A339-37B0030F18EE}" srcOrd="0" destOrd="0" presId="urn:microsoft.com/office/officeart/2018/2/layout/IconVerticalSolidList"/>
    <dgm:cxn modelId="{3BABD15E-72F5-4BCE-80CC-33357D5B7046}" type="presParOf" srcId="{7E832117-63A1-4E2D-9197-9242A7AAA124}" destId="{015FDE32-844B-4E68-BB65-A103B24E341F}" srcOrd="1" destOrd="0" presId="urn:microsoft.com/office/officeart/2018/2/layout/IconVerticalSolidList"/>
    <dgm:cxn modelId="{FE91EA6D-551F-46D3-B559-7EC23309AC8F}" type="presParOf" srcId="{7E832117-63A1-4E2D-9197-9242A7AAA124}" destId="{C7EF65C8-42B9-4B50-A5DC-5235335D1151}" srcOrd="2" destOrd="0" presId="urn:microsoft.com/office/officeart/2018/2/layout/IconVerticalSolidList"/>
    <dgm:cxn modelId="{3954315B-F153-4937-9431-D2F59543A199}" type="presParOf" srcId="{7E832117-63A1-4E2D-9197-9242A7AAA124}" destId="{D43FCA1B-23E1-4CAD-B392-17A5E405B8D4}" srcOrd="3" destOrd="0" presId="urn:microsoft.com/office/officeart/2018/2/layout/IconVerticalSolidList"/>
    <dgm:cxn modelId="{E97D45F6-F382-4A13-BC7E-F68B5BDC81A0}" type="presParOf" srcId="{C6EEF47A-A668-4029-9E15-8B53FA3C5AF8}" destId="{56119056-6710-4DA4-8AB6-2E8F7CA526F0}" srcOrd="3" destOrd="0" presId="urn:microsoft.com/office/officeart/2018/2/layout/IconVerticalSolidList"/>
    <dgm:cxn modelId="{B082DFDE-D218-4F9A-960B-8DECA39E4310}" type="presParOf" srcId="{C6EEF47A-A668-4029-9E15-8B53FA3C5AF8}" destId="{EBD61120-8CD1-4ECD-A70A-77B2B96CF297}" srcOrd="4" destOrd="0" presId="urn:microsoft.com/office/officeart/2018/2/layout/IconVerticalSolidList"/>
    <dgm:cxn modelId="{62311CCA-17A2-48C7-8CB5-88C40CF915F9}" type="presParOf" srcId="{EBD61120-8CD1-4ECD-A70A-77B2B96CF297}" destId="{011E28FA-A79E-4683-87FE-FBCFBA595B79}" srcOrd="0" destOrd="0" presId="urn:microsoft.com/office/officeart/2018/2/layout/IconVerticalSolidList"/>
    <dgm:cxn modelId="{1CD59591-0B05-42E8-BF8C-2ECDE46194CC}" type="presParOf" srcId="{EBD61120-8CD1-4ECD-A70A-77B2B96CF297}" destId="{282F8758-FE3A-4911-83B1-6AB145B97C67}" srcOrd="1" destOrd="0" presId="urn:microsoft.com/office/officeart/2018/2/layout/IconVerticalSolidList"/>
    <dgm:cxn modelId="{B809564A-862B-4E3D-8C8C-8310A81AECE8}" type="presParOf" srcId="{EBD61120-8CD1-4ECD-A70A-77B2B96CF297}" destId="{422782BF-3C66-4C85-A00F-DA43F5965F8F}" srcOrd="2" destOrd="0" presId="urn:microsoft.com/office/officeart/2018/2/layout/IconVerticalSolidList"/>
    <dgm:cxn modelId="{6D1946E2-5619-4FD8-BB2D-FCDEFC088DC7}" type="presParOf" srcId="{EBD61120-8CD1-4ECD-A70A-77B2B96CF297}" destId="{B4A9A358-38DA-49C3-AE13-EE6BAAF7DC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59C565-D6C7-4A91-9D07-B1365452DFEB}"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07064676-2D28-4181-BE41-F957671772CE}">
      <dgm:prSet/>
      <dgm:spPr/>
      <dgm:t>
        <a:bodyPr/>
        <a:lstStyle/>
        <a:p>
          <a:r>
            <a:rPr lang="en-US" dirty="0"/>
            <a:t>Shapley values provide a way to distribute the total gains from cooperation among all participants in a game</a:t>
          </a:r>
        </a:p>
      </dgm:t>
    </dgm:pt>
    <dgm:pt modelId="{439BCDB3-77CE-42C1-BC67-537908F4E071}" type="parTrans" cxnId="{692A81B3-3DD2-45F9-825A-BBD3E40A8FE9}">
      <dgm:prSet/>
      <dgm:spPr/>
      <dgm:t>
        <a:bodyPr/>
        <a:lstStyle/>
        <a:p>
          <a:endParaRPr lang="en-US"/>
        </a:p>
      </dgm:t>
    </dgm:pt>
    <dgm:pt modelId="{B175FA58-8C41-4438-9627-5AAB895174EF}" type="sibTrans" cxnId="{692A81B3-3DD2-45F9-825A-BBD3E40A8FE9}">
      <dgm:prSet/>
      <dgm:spPr/>
      <dgm:t>
        <a:bodyPr/>
        <a:lstStyle/>
        <a:p>
          <a:endParaRPr lang="en-US"/>
        </a:p>
      </dgm:t>
    </dgm:pt>
    <dgm:pt modelId="{0130778D-81B6-40B4-8D20-BAAF44B34442}">
      <dgm:prSet/>
      <dgm:spPr/>
      <dgm:t>
        <a:bodyPr/>
        <a:lstStyle/>
        <a:p>
          <a:r>
            <a:rPr lang="en-US" dirty="0"/>
            <a:t>Each player's contribution is determined based on their contribution to the overall outcome when joining different subsets of players</a:t>
          </a:r>
        </a:p>
      </dgm:t>
    </dgm:pt>
    <dgm:pt modelId="{EFAA8EE5-9661-430A-98E7-542836AB7DA0}" type="parTrans" cxnId="{133AD7A3-C043-4A3D-B27C-ABE5F603EE16}">
      <dgm:prSet/>
      <dgm:spPr/>
      <dgm:t>
        <a:bodyPr/>
        <a:lstStyle/>
        <a:p>
          <a:endParaRPr lang="en-US"/>
        </a:p>
      </dgm:t>
    </dgm:pt>
    <dgm:pt modelId="{49778A19-28FD-401E-82D0-59E3B309D17A}" type="sibTrans" cxnId="{133AD7A3-C043-4A3D-B27C-ABE5F603EE16}">
      <dgm:prSet/>
      <dgm:spPr/>
      <dgm:t>
        <a:bodyPr/>
        <a:lstStyle/>
        <a:p>
          <a:endParaRPr lang="en-US"/>
        </a:p>
      </dgm:t>
    </dgm:pt>
    <dgm:pt modelId="{00A17182-5774-4208-AD33-9C34DF02E2DB}" type="pres">
      <dgm:prSet presAssocID="{E559C565-D6C7-4A91-9D07-B1365452DFEB}" presName="hierChild1" presStyleCnt="0">
        <dgm:presLayoutVars>
          <dgm:chPref val="1"/>
          <dgm:dir/>
          <dgm:animOne val="branch"/>
          <dgm:animLvl val="lvl"/>
          <dgm:resizeHandles/>
        </dgm:presLayoutVars>
      </dgm:prSet>
      <dgm:spPr/>
    </dgm:pt>
    <dgm:pt modelId="{F303E1DB-423A-4964-BB31-94F5D02E9FB6}" type="pres">
      <dgm:prSet presAssocID="{07064676-2D28-4181-BE41-F957671772CE}" presName="hierRoot1" presStyleCnt="0"/>
      <dgm:spPr/>
    </dgm:pt>
    <dgm:pt modelId="{552F1EEF-E234-4D23-832F-17AEEF0596D4}" type="pres">
      <dgm:prSet presAssocID="{07064676-2D28-4181-BE41-F957671772CE}" presName="composite" presStyleCnt="0"/>
      <dgm:spPr/>
    </dgm:pt>
    <dgm:pt modelId="{83DF5636-DBDF-4433-9AE3-1116730993A8}" type="pres">
      <dgm:prSet presAssocID="{07064676-2D28-4181-BE41-F957671772CE}" presName="background" presStyleLbl="node0" presStyleIdx="0" presStyleCnt="2"/>
      <dgm:spPr/>
    </dgm:pt>
    <dgm:pt modelId="{84893B3A-442C-40E6-A3E1-AEB801810202}" type="pres">
      <dgm:prSet presAssocID="{07064676-2D28-4181-BE41-F957671772CE}" presName="text" presStyleLbl="fgAcc0" presStyleIdx="0" presStyleCnt="2">
        <dgm:presLayoutVars>
          <dgm:chPref val="3"/>
        </dgm:presLayoutVars>
      </dgm:prSet>
      <dgm:spPr/>
    </dgm:pt>
    <dgm:pt modelId="{FAFB856C-C4BD-4D57-9F57-6A368B7E6B8E}" type="pres">
      <dgm:prSet presAssocID="{07064676-2D28-4181-BE41-F957671772CE}" presName="hierChild2" presStyleCnt="0"/>
      <dgm:spPr/>
    </dgm:pt>
    <dgm:pt modelId="{11F5A039-8C1E-4AA5-B697-65E473D998F6}" type="pres">
      <dgm:prSet presAssocID="{0130778D-81B6-40B4-8D20-BAAF44B34442}" presName="hierRoot1" presStyleCnt="0"/>
      <dgm:spPr/>
    </dgm:pt>
    <dgm:pt modelId="{77C6FDC8-6367-40E7-9EED-E3D5D4003E9C}" type="pres">
      <dgm:prSet presAssocID="{0130778D-81B6-40B4-8D20-BAAF44B34442}" presName="composite" presStyleCnt="0"/>
      <dgm:spPr/>
    </dgm:pt>
    <dgm:pt modelId="{BA2FB58A-95E6-4934-A0D3-A0D3EE6D7528}" type="pres">
      <dgm:prSet presAssocID="{0130778D-81B6-40B4-8D20-BAAF44B34442}" presName="background" presStyleLbl="node0" presStyleIdx="1" presStyleCnt="2"/>
      <dgm:spPr/>
    </dgm:pt>
    <dgm:pt modelId="{8C8D6A74-B27B-459E-BCE1-C3ED1488301B}" type="pres">
      <dgm:prSet presAssocID="{0130778D-81B6-40B4-8D20-BAAF44B34442}" presName="text" presStyleLbl="fgAcc0" presStyleIdx="1" presStyleCnt="2">
        <dgm:presLayoutVars>
          <dgm:chPref val="3"/>
        </dgm:presLayoutVars>
      </dgm:prSet>
      <dgm:spPr/>
    </dgm:pt>
    <dgm:pt modelId="{AEB635D4-5DB2-492C-8F1D-09F6AC6A5E29}" type="pres">
      <dgm:prSet presAssocID="{0130778D-81B6-40B4-8D20-BAAF44B34442}" presName="hierChild2" presStyleCnt="0"/>
      <dgm:spPr/>
    </dgm:pt>
  </dgm:ptLst>
  <dgm:cxnLst>
    <dgm:cxn modelId="{A594861D-D1C7-4550-B63D-DE91B5F52D73}" type="presOf" srcId="{07064676-2D28-4181-BE41-F957671772CE}" destId="{84893B3A-442C-40E6-A3E1-AEB801810202}" srcOrd="0" destOrd="0" presId="urn:microsoft.com/office/officeart/2005/8/layout/hierarchy1"/>
    <dgm:cxn modelId="{86E8D261-F131-4AEE-BACA-06DAE2307E31}" type="presOf" srcId="{E559C565-D6C7-4A91-9D07-B1365452DFEB}" destId="{00A17182-5774-4208-AD33-9C34DF02E2DB}" srcOrd="0" destOrd="0" presId="urn:microsoft.com/office/officeart/2005/8/layout/hierarchy1"/>
    <dgm:cxn modelId="{133AD7A3-C043-4A3D-B27C-ABE5F603EE16}" srcId="{E559C565-D6C7-4A91-9D07-B1365452DFEB}" destId="{0130778D-81B6-40B4-8D20-BAAF44B34442}" srcOrd="1" destOrd="0" parTransId="{EFAA8EE5-9661-430A-98E7-542836AB7DA0}" sibTransId="{49778A19-28FD-401E-82D0-59E3B309D17A}"/>
    <dgm:cxn modelId="{00CA6AA7-8D65-47AB-AEFF-5ADACC4F699A}" type="presOf" srcId="{0130778D-81B6-40B4-8D20-BAAF44B34442}" destId="{8C8D6A74-B27B-459E-BCE1-C3ED1488301B}" srcOrd="0" destOrd="0" presId="urn:microsoft.com/office/officeart/2005/8/layout/hierarchy1"/>
    <dgm:cxn modelId="{692A81B3-3DD2-45F9-825A-BBD3E40A8FE9}" srcId="{E559C565-D6C7-4A91-9D07-B1365452DFEB}" destId="{07064676-2D28-4181-BE41-F957671772CE}" srcOrd="0" destOrd="0" parTransId="{439BCDB3-77CE-42C1-BC67-537908F4E071}" sibTransId="{B175FA58-8C41-4438-9627-5AAB895174EF}"/>
    <dgm:cxn modelId="{47C72C2C-3941-4492-8D41-C77EB1D98841}" type="presParOf" srcId="{00A17182-5774-4208-AD33-9C34DF02E2DB}" destId="{F303E1DB-423A-4964-BB31-94F5D02E9FB6}" srcOrd="0" destOrd="0" presId="urn:microsoft.com/office/officeart/2005/8/layout/hierarchy1"/>
    <dgm:cxn modelId="{A07ABBE5-E4A1-4679-9490-34E26E84FE50}" type="presParOf" srcId="{F303E1DB-423A-4964-BB31-94F5D02E9FB6}" destId="{552F1EEF-E234-4D23-832F-17AEEF0596D4}" srcOrd="0" destOrd="0" presId="urn:microsoft.com/office/officeart/2005/8/layout/hierarchy1"/>
    <dgm:cxn modelId="{E8EF18B9-13E8-4205-973E-77B9AED4DA8F}" type="presParOf" srcId="{552F1EEF-E234-4D23-832F-17AEEF0596D4}" destId="{83DF5636-DBDF-4433-9AE3-1116730993A8}" srcOrd="0" destOrd="0" presId="urn:microsoft.com/office/officeart/2005/8/layout/hierarchy1"/>
    <dgm:cxn modelId="{22E7DECC-1ED6-4743-B73E-85A1792716EA}" type="presParOf" srcId="{552F1EEF-E234-4D23-832F-17AEEF0596D4}" destId="{84893B3A-442C-40E6-A3E1-AEB801810202}" srcOrd="1" destOrd="0" presId="urn:microsoft.com/office/officeart/2005/8/layout/hierarchy1"/>
    <dgm:cxn modelId="{1BD8F3F9-9A08-4770-993B-754888D7656F}" type="presParOf" srcId="{F303E1DB-423A-4964-BB31-94F5D02E9FB6}" destId="{FAFB856C-C4BD-4D57-9F57-6A368B7E6B8E}" srcOrd="1" destOrd="0" presId="urn:microsoft.com/office/officeart/2005/8/layout/hierarchy1"/>
    <dgm:cxn modelId="{9D401D32-B77C-4826-9584-B301ABBC65B0}" type="presParOf" srcId="{00A17182-5774-4208-AD33-9C34DF02E2DB}" destId="{11F5A039-8C1E-4AA5-B697-65E473D998F6}" srcOrd="1" destOrd="0" presId="urn:microsoft.com/office/officeart/2005/8/layout/hierarchy1"/>
    <dgm:cxn modelId="{B021DD93-4BB4-4B76-83BC-AE8C7AF04E03}" type="presParOf" srcId="{11F5A039-8C1E-4AA5-B697-65E473D998F6}" destId="{77C6FDC8-6367-40E7-9EED-E3D5D4003E9C}" srcOrd="0" destOrd="0" presId="urn:microsoft.com/office/officeart/2005/8/layout/hierarchy1"/>
    <dgm:cxn modelId="{9EE20E92-78C2-48D5-9B05-488540FDB0D3}" type="presParOf" srcId="{77C6FDC8-6367-40E7-9EED-E3D5D4003E9C}" destId="{BA2FB58A-95E6-4934-A0D3-A0D3EE6D7528}" srcOrd="0" destOrd="0" presId="urn:microsoft.com/office/officeart/2005/8/layout/hierarchy1"/>
    <dgm:cxn modelId="{81C4D021-1ECD-4C81-BD2D-54A05292076A}" type="presParOf" srcId="{77C6FDC8-6367-40E7-9EED-E3D5D4003E9C}" destId="{8C8D6A74-B27B-459E-BCE1-C3ED1488301B}" srcOrd="1" destOrd="0" presId="urn:microsoft.com/office/officeart/2005/8/layout/hierarchy1"/>
    <dgm:cxn modelId="{B6637702-9D71-4B2A-8DBC-68977FC0E0F4}" type="presParOf" srcId="{11F5A039-8C1E-4AA5-B697-65E473D998F6}" destId="{AEB635D4-5DB2-492C-8F1D-09F6AC6A5E2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5E28D3-30B5-48D4-A64D-1D51412DCAEA}" type="doc">
      <dgm:prSet loTypeId="urn:microsoft.com/office/officeart/2016/7/layout/BasicLinearProcessNumbered" loCatId="process" qsTypeId="urn:microsoft.com/office/officeart/2005/8/quickstyle/simple1" qsCatId="simple" csTypeId="urn:microsoft.com/office/officeart/2005/8/colors/colorful1" csCatId="colorful" phldr="1"/>
      <dgm:spPr/>
      <dgm:t>
        <a:bodyPr/>
        <a:lstStyle/>
        <a:p>
          <a:endParaRPr lang="en-US"/>
        </a:p>
      </dgm:t>
    </dgm:pt>
    <dgm:pt modelId="{D0641CEE-3B6F-46DF-A523-7E86C9A2D289}">
      <dgm:prSet/>
      <dgm:spPr/>
      <dgm:t>
        <a:bodyPr/>
        <a:lstStyle/>
        <a:p>
          <a:r>
            <a:rPr lang="en-US" b="1"/>
            <a:t>Removing a Feature:</a:t>
          </a:r>
          <a:r>
            <a:rPr lang="en-US"/>
            <a:t> It evaluates the model's prediction without the feature.</a:t>
          </a:r>
        </a:p>
      </dgm:t>
    </dgm:pt>
    <dgm:pt modelId="{A8132827-FF85-422C-9EE9-23331BCF04D6}" type="parTrans" cxnId="{4C2CF55F-CCFF-4786-A0A9-A5AF317421D6}">
      <dgm:prSet/>
      <dgm:spPr/>
      <dgm:t>
        <a:bodyPr/>
        <a:lstStyle/>
        <a:p>
          <a:endParaRPr lang="en-US"/>
        </a:p>
      </dgm:t>
    </dgm:pt>
    <dgm:pt modelId="{8DFE5061-29C4-49D9-906E-82D2A749B98E}" type="sibTrans" cxnId="{4C2CF55F-CCFF-4786-A0A9-A5AF317421D6}">
      <dgm:prSet phldrT="1" phldr="0"/>
      <dgm:spPr/>
      <dgm:t>
        <a:bodyPr/>
        <a:lstStyle/>
        <a:p>
          <a:r>
            <a:rPr lang="en-US"/>
            <a:t>1</a:t>
          </a:r>
        </a:p>
      </dgm:t>
    </dgm:pt>
    <dgm:pt modelId="{B9852DB3-EC81-4914-85FA-1CA6FE60BB28}">
      <dgm:prSet/>
      <dgm:spPr/>
      <dgm:t>
        <a:bodyPr/>
        <a:lstStyle/>
        <a:p>
          <a:r>
            <a:rPr lang="en-US" b="1" dirty="0"/>
            <a:t>Re-Adding the Feature:</a:t>
          </a:r>
          <a:r>
            <a:rPr lang="en-US" dirty="0"/>
            <a:t> It evaluates how the prediction changes when the feature is added back.</a:t>
          </a:r>
        </a:p>
      </dgm:t>
    </dgm:pt>
    <dgm:pt modelId="{B6F3AABC-AD71-4ED9-97F4-3F675466E461}" type="parTrans" cxnId="{410C7384-EBD8-42FF-83E8-9AA2E87DF952}">
      <dgm:prSet/>
      <dgm:spPr/>
      <dgm:t>
        <a:bodyPr/>
        <a:lstStyle/>
        <a:p>
          <a:endParaRPr lang="en-US"/>
        </a:p>
      </dgm:t>
    </dgm:pt>
    <dgm:pt modelId="{28E46EC1-FAB8-4BA8-9166-5D1CC2A8ACF4}" type="sibTrans" cxnId="{410C7384-EBD8-42FF-83E8-9AA2E87DF952}">
      <dgm:prSet phldrT="2" phldr="0"/>
      <dgm:spPr/>
      <dgm:t>
        <a:bodyPr/>
        <a:lstStyle/>
        <a:p>
          <a:r>
            <a:rPr lang="en-US"/>
            <a:t>2</a:t>
          </a:r>
        </a:p>
      </dgm:t>
    </dgm:pt>
    <dgm:pt modelId="{224D35D4-F48D-4360-A078-26960315E7C2}">
      <dgm:prSet/>
      <dgm:spPr/>
      <dgm:t>
        <a:bodyPr/>
        <a:lstStyle/>
        <a:p>
          <a:r>
            <a:rPr lang="en-US" b="1" dirty="0"/>
            <a:t>Averaging:</a:t>
          </a:r>
          <a:r>
            <a:rPr lang="en-US" dirty="0"/>
            <a:t> It repeats this process for all possible feature combinations and averages the results to compute the final Shapley value.</a:t>
          </a:r>
        </a:p>
      </dgm:t>
    </dgm:pt>
    <dgm:pt modelId="{78D60A16-F493-4423-90F0-17CB83E5A3BC}" type="parTrans" cxnId="{9585CDDF-CE3B-49C9-92A2-2DAB8A8B0366}">
      <dgm:prSet/>
      <dgm:spPr/>
      <dgm:t>
        <a:bodyPr/>
        <a:lstStyle/>
        <a:p>
          <a:endParaRPr lang="en-US"/>
        </a:p>
      </dgm:t>
    </dgm:pt>
    <dgm:pt modelId="{9B962487-755E-42A6-9BB6-727EDF08D1B3}" type="sibTrans" cxnId="{9585CDDF-CE3B-49C9-92A2-2DAB8A8B0366}">
      <dgm:prSet phldrT="3" phldr="0"/>
      <dgm:spPr/>
      <dgm:t>
        <a:bodyPr/>
        <a:lstStyle/>
        <a:p>
          <a:r>
            <a:rPr lang="en-US"/>
            <a:t>3</a:t>
          </a:r>
        </a:p>
      </dgm:t>
    </dgm:pt>
    <dgm:pt modelId="{806EF2A3-0580-4C31-A230-FD9796ED6A03}" type="pres">
      <dgm:prSet presAssocID="{685E28D3-30B5-48D4-A64D-1D51412DCAEA}" presName="Name0" presStyleCnt="0">
        <dgm:presLayoutVars>
          <dgm:animLvl val="lvl"/>
          <dgm:resizeHandles val="exact"/>
        </dgm:presLayoutVars>
      </dgm:prSet>
      <dgm:spPr/>
    </dgm:pt>
    <dgm:pt modelId="{709988F8-24E0-461E-BE85-42DAF2902C76}" type="pres">
      <dgm:prSet presAssocID="{D0641CEE-3B6F-46DF-A523-7E86C9A2D289}" presName="compositeNode" presStyleCnt="0">
        <dgm:presLayoutVars>
          <dgm:bulletEnabled val="1"/>
        </dgm:presLayoutVars>
      </dgm:prSet>
      <dgm:spPr/>
    </dgm:pt>
    <dgm:pt modelId="{92F24C5C-DD4C-44BF-851E-39AEF2A0AC92}" type="pres">
      <dgm:prSet presAssocID="{D0641CEE-3B6F-46DF-A523-7E86C9A2D289}" presName="bgRect" presStyleLbl="bgAccFollowNode1" presStyleIdx="0" presStyleCnt="3"/>
      <dgm:spPr/>
    </dgm:pt>
    <dgm:pt modelId="{F1B699C6-B882-4586-A897-9548B32CD054}" type="pres">
      <dgm:prSet presAssocID="{8DFE5061-29C4-49D9-906E-82D2A749B98E}" presName="sibTransNodeCircle" presStyleLbl="alignNode1" presStyleIdx="0" presStyleCnt="6">
        <dgm:presLayoutVars>
          <dgm:chMax val="0"/>
          <dgm:bulletEnabled/>
        </dgm:presLayoutVars>
      </dgm:prSet>
      <dgm:spPr/>
    </dgm:pt>
    <dgm:pt modelId="{B38F7548-CBE1-4B5B-9C6A-3FD0B39F4F49}" type="pres">
      <dgm:prSet presAssocID="{D0641CEE-3B6F-46DF-A523-7E86C9A2D289}" presName="bottomLine" presStyleLbl="alignNode1" presStyleIdx="1" presStyleCnt="6">
        <dgm:presLayoutVars/>
      </dgm:prSet>
      <dgm:spPr/>
    </dgm:pt>
    <dgm:pt modelId="{BAC188EB-CE38-4201-8C93-34450ABD4EF0}" type="pres">
      <dgm:prSet presAssocID="{D0641CEE-3B6F-46DF-A523-7E86C9A2D289}" presName="nodeText" presStyleLbl="bgAccFollowNode1" presStyleIdx="0" presStyleCnt="3">
        <dgm:presLayoutVars>
          <dgm:bulletEnabled val="1"/>
        </dgm:presLayoutVars>
      </dgm:prSet>
      <dgm:spPr/>
    </dgm:pt>
    <dgm:pt modelId="{F4CBFB72-A0DF-49DE-8717-51896A40DCA3}" type="pres">
      <dgm:prSet presAssocID="{8DFE5061-29C4-49D9-906E-82D2A749B98E}" presName="sibTrans" presStyleCnt="0"/>
      <dgm:spPr/>
    </dgm:pt>
    <dgm:pt modelId="{2C056A19-35F4-4DF2-A14A-8A7CFB7F21B7}" type="pres">
      <dgm:prSet presAssocID="{B9852DB3-EC81-4914-85FA-1CA6FE60BB28}" presName="compositeNode" presStyleCnt="0">
        <dgm:presLayoutVars>
          <dgm:bulletEnabled val="1"/>
        </dgm:presLayoutVars>
      </dgm:prSet>
      <dgm:spPr/>
    </dgm:pt>
    <dgm:pt modelId="{C11AAF4E-4515-45D2-A5E3-12633B78BD29}" type="pres">
      <dgm:prSet presAssocID="{B9852DB3-EC81-4914-85FA-1CA6FE60BB28}" presName="bgRect" presStyleLbl="bgAccFollowNode1" presStyleIdx="1" presStyleCnt="3"/>
      <dgm:spPr/>
    </dgm:pt>
    <dgm:pt modelId="{5D6EAD88-7B9B-49B5-8DA9-B2BC7C4F2442}" type="pres">
      <dgm:prSet presAssocID="{28E46EC1-FAB8-4BA8-9166-5D1CC2A8ACF4}" presName="sibTransNodeCircle" presStyleLbl="alignNode1" presStyleIdx="2" presStyleCnt="6">
        <dgm:presLayoutVars>
          <dgm:chMax val="0"/>
          <dgm:bulletEnabled/>
        </dgm:presLayoutVars>
      </dgm:prSet>
      <dgm:spPr/>
    </dgm:pt>
    <dgm:pt modelId="{72090DC9-CFCC-4D6C-9828-11CB7B0C8522}" type="pres">
      <dgm:prSet presAssocID="{B9852DB3-EC81-4914-85FA-1CA6FE60BB28}" presName="bottomLine" presStyleLbl="alignNode1" presStyleIdx="3" presStyleCnt="6">
        <dgm:presLayoutVars/>
      </dgm:prSet>
      <dgm:spPr/>
    </dgm:pt>
    <dgm:pt modelId="{E087F63B-F6D0-45CB-B273-1D6F88C8EA68}" type="pres">
      <dgm:prSet presAssocID="{B9852DB3-EC81-4914-85FA-1CA6FE60BB28}" presName="nodeText" presStyleLbl="bgAccFollowNode1" presStyleIdx="1" presStyleCnt="3">
        <dgm:presLayoutVars>
          <dgm:bulletEnabled val="1"/>
        </dgm:presLayoutVars>
      </dgm:prSet>
      <dgm:spPr/>
    </dgm:pt>
    <dgm:pt modelId="{87F9CBEF-7D99-4E53-80CD-F1488D54E8DB}" type="pres">
      <dgm:prSet presAssocID="{28E46EC1-FAB8-4BA8-9166-5D1CC2A8ACF4}" presName="sibTrans" presStyleCnt="0"/>
      <dgm:spPr/>
    </dgm:pt>
    <dgm:pt modelId="{18CB940D-E69A-40D6-B7D5-1161FF06FA4E}" type="pres">
      <dgm:prSet presAssocID="{224D35D4-F48D-4360-A078-26960315E7C2}" presName="compositeNode" presStyleCnt="0">
        <dgm:presLayoutVars>
          <dgm:bulletEnabled val="1"/>
        </dgm:presLayoutVars>
      </dgm:prSet>
      <dgm:spPr/>
    </dgm:pt>
    <dgm:pt modelId="{30AD2208-B541-4B16-B593-48F7A46B6B21}" type="pres">
      <dgm:prSet presAssocID="{224D35D4-F48D-4360-A078-26960315E7C2}" presName="bgRect" presStyleLbl="bgAccFollowNode1" presStyleIdx="2" presStyleCnt="3"/>
      <dgm:spPr/>
    </dgm:pt>
    <dgm:pt modelId="{369037A7-B66E-42DF-BD37-B73D077961E9}" type="pres">
      <dgm:prSet presAssocID="{9B962487-755E-42A6-9BB6-727EDF08D1B3}" presName="sibTransNodeCircle" presStyleLbl="alignNode1" presStyleIdx="4" presStyleCnt="6">
        <dgm:presLayoutVars>
          <dgm:chMax val="0"/>
          <dgm:bulletEnabled/>
        </dgm:presLayoutVars>
      </dgm:prSet>
      <dgm:spPr/>
    </dgm:pt>
    <dgm:pt modelId="{C637DCD3-80ED-425F-921A-178255E58806}" type="pres">
      <dgm:prSet presAssocID="{224D35D4-F48D-4360-A078-26960315E7C2}" presName="bottomLine" presStyleLbl="alignNode1" presStyleIdx="5" presStyleCnt="6">
        <dgm:presLayoutVars/>
      </dgm:prSet>
      <dgm:spPr/>
    </dgm:pt>
    <dgm:pt modelId="{B44CA76D-2D96-41C9-984E-8DE1D6180C49}" type="pres">
      <dgm:prSet presAssocID="{224D35D4-F48D-4360-A078-26960315E7C2}" presName="nodeText" presStyleLbl="bgAccFollowNode1" presStyleIdx="2" presStyleCnt="3">
        <dgm:presLayoutVars>
          <dgm:bulletEnabled val="1"/>
        </dgm:presLayoutVars>
      </dgm:prSet>
      <dgm:spPr/>
    </dgm:pt>
  </dgm:ptLst>
  <dgm:cxnLst>
    <dgm:cxn modelId="{9A9A0720-CD58-47E0-8D1F-A6E70D614645}" type="presOf" srcId="{8DFE5061-29C4-49D9-906E-82D2A749B98E}" destId="{F1B699C6-B882-4586-A897-9548B32CD054}" srcOrd="0" destOrd="0" presId="urn:microsoft.com/office/officeart/2016/7/layout/BasicLinearProcessNumbered"/>
    <dgm:cxn modelId="{3BD9063A-D89C-4CE5-93CA-12CE6584A681}" type="presOf" srcId="{224D35D4-F48D-4360-A078-26960315E7C2}" destId="{30AD2208-B541-4B16-B593-48F7A46B6B21}" srcOrd="0" destOrd="0" presId="urn:microsoft.com/office/officeart/2016/7/layout/BasicLinearProcessNumbered"/>
    <dgm:cxn modelId="{4C2CF55F-CCFF-4786-A0A9-A5AF317421D6}" srcId="{685E28D3-30B5-48D4-A64D-1D51412DCAEA}" destId="{D0641CEE-3B6F-46DF-A523-7E86C9A2D289}" srcOrd="0" destOrd="0" parTransId="{A8132827-FF85-422C-9EE9-23331BCF04D6}" sibTransId="{8DFE5061-29C4-49D9-906E-82D2A749B98E}"/>
    <dgm:cxn modelId="{E6E67D63-D70F-4778-A2CE-975A52DC8267}" type="presOf" srcId="{B9852DB3-EC81-4914-85FA-1CA6FE60BB28}" destId="{E087F63B-F6D0-45CB-B273-1D6F88C8EA68}" srcOrd="1" destOrd="0" presId="urn:microsoft.com/office/officeart/2016/7/layout/BasicLinearProcessNumbered"/>
    <dgm:cxn modelId="{7EC5E963-718E-4788-BF6B-D05E25F3E019}" type="presOf" srcId="{B9852DB3-EC81-4914-85FA-1CA6FE60BB28}" destId="{C11AAF4E-4515-45D2-A5E3-12633B78BD29}" srcOrd="0" destOrd="0" presId="urn:microsoft.com/office/officeart/2016/7/layout/BasicLinearProcessNumbered"/>
    <dgm:cxn modelId="{B174966C-B5E2-41E8-9910-D0D11DEC6452}" type="presOf" srcId="{28E46EC1-FAB8-4BA8-9166-5D1CC2A8ACF4}" destId="{5D6EAD88-7B9B-49B5-8DA9-B2BC7C4F2442}" srcOrd="0" destOrd="0" presId="urn:microsoft.com/office/officeart/2016/7/layout/BasicLinearProcessNumbered"/>
    <dgm:cxn modelId="{410C7384-EBD8-42FF-83E8-9AA2E87DF952}" srcId="{685E28D3-30B5-48D4-A64D-1D51412DCAEA}" destId="{B9852DB3-EC81-4914-85FA-1CA6FE60BB28}" srcOrd="1" destOrd="0" parTransId="{B6F3AABC-AD71-4ED9-97F4-3F675466E461}" sibTransId="{28E46EC1-FAB8-4BA8-9166-5D1CC2A8ACF4}"/>
    <dgm:cxn modelId="{AB54FD8F-B0EB-478C-99D1-62959FC43415}" type="presOf" srcId="{685E28D3-30B5-48D4-A64D-1D51412DCAEA}" destId="{806EF2A3-0580-4C31-A230-FD9796ED6A03}" srcOrd="0" destOrd="0" presId="urn:microsoft.com/office/officeart/2016/7/layout/BasicLinearProcessNumbered"/>
    <dgm:cxn modelId="{042C9F93-289A-4412-A7A3-71DC8A065667}" type="presOf" srcId="{224D35D4-F48D-4360-A078-26960315E7C2}" destId="{B44CA76D-2D96-41C9-984E-8DE1D6180C49}" srcOrd="1" destOrd="0" presId="urn:microsoft.com/office/officeart/2016/7/layout/BasicLinearProcessNumbered"/>
    <dgm:cxn modelId="{3E0EAAAF-1480-431D-A2A2-97BC77C631B7}" type="presOf" srcId="{D0641CEE-3B6F-46DF-A523-7E86C9A2D289}" destId="{BAC188EB-CE38-4201-8C93-34450ABD4EF0}" srcOrd="1" destOrd="0" presId="urn:microsoft.com/office/officeart/2016/7/layout/BasicLinearProcessNumbered"/>
    <dgm:cxn modelId="{9585CDDF-CE3B-49C9-92A2-2DAB8A8B0366}" srcId="{685E28D3-30B5-48D4-A64D-1D51412DCAEA}" destId="{224D35D4-F48D-4360-A078-26960315E7C2}" srcOrd="2" destOrd="0" parTransId="{78D60A16-F493-4423-90F0-17CB83E5A3BC}" sibTransId="{9B962487-755E-42A6-9BB6-727EDF08D1B3}"/>
    <dgm:cxn modelId="{C715FBE7-6E39-4A3A-B026-0B510C3DB027}" type="presOf" srcId="{D0641CEE-3B6F-46DF-A523-7E86C9A2D289}" destId="{92F24C5C-DD4C-44BF-851E-39AEF2A0AC92}" srcOrd="0" destOrd="0" presId="urn:microsoft.com/office/officeart/2016/7/layout/BasicLinearProcessNumbered"/>
    <dgm:cxn modelId="{DEB011F3-7661-4216-AF63-2903BC342747}" type="presOf" srcId="{9B962487-755E-42A6-9BB6-727EDF08D1B3}" destId="{369037A7-B66E-42DF-BD37-B73D077961E9}" srcOrd="0" destOrd="0" presId="urn:microsoft.com/office/officeart/2016/7/layout/BasicLinearProcessNumbered"/>
    <dgm:cxn modelId="{B88A8848-55E4-4639-8E91-E36DF6B9217C}" type="presParOf" srcId="{806EF2A3-0580-4C31-A230-FD9796ED6A03}" destId="{709988F8-24E0-461E-BE85-42DAF2902C76}" srcOrd="0" destOrd="0" presId="urn:microsoft.com/office/officeart/2016/7/layout/BasicLinearProcessNumbered"/>
    <dgm:cxn modelId="{74D78209-027E-42EF-9B3A-05234BBE80C0}" type="presParOf" srcId="{709988F8-24E0-461E-BE85-42DAF2902C76}" destId="{92F24C5C-DD4C-44BF-851E-39AEF2A0AC92}" srcOrd="0" destOrd="0" presId="urn:microsoft.com/office/officeart/2016/7/layout/BasicLinearProcessNumbered"/>
    <dgm:cxn modelId="{E7471171-9D43-409B-8181-97350E869BCE}" type="presParOf" srcId="{709988F8-24E0-461E-BE85-42DAF2902C76}" destId="{F1B699C6-B882-4586-A897-9548B32CD054}" srcOrd="1" destOrd="0" presId="urn:microsoft.com/office/officeart/2016/7/layout/BasicLinearProcessNumbered"/>
    <dgm:cxn modelId="{CD6123B7-380E-42A7-9A90-78A17B95CC2E}" type="presParOf" srcId="{709988F8-24E0-461E-BE85-42DAF2902C76}" destId="{B38F7548-CBE1-4B5B-9C6A-3FD0B39F4F49}" srcOrd="2" destOrd="0" presId="urn:microsoft.com/office/officeart/2016/7/layout/BasicLinearProcessNumbered"/>
    <dgm:cxn modelId="{D4CA0611-A59D-499B-BD91-14C7F8AC8F45}" type="presParOf" srcId="{709988F8-24E0-461E-BE85-42DAF2902C76}" destId="{BAC188EB-CE38-4201-8C93-34450ABD4EF0}" srcOrd="3" destOrd="0" presId="urn:microsoft.com/office/officeart/2016/7/layout/BasicLinearProcessNumbered"/>
    <dgm:cxn modelId="{A0C4D3B0-3F92-4395-AEE4-F58872AA30F1}" type="presParOf" srcId="{806EF2A3-0580-4C31-A230-FD9796ED6A03}" destId="{F4CBFB72-A0DF-49DE-8717-51896A40DCA3}" srcOrd="1" destOrd="0" presId="urn:microsoft.com/office/officeart/2016/7/layout/BasicLinearProcessNumbered"/>
    <dgm:cxn modelId="{93E12E47-E087-4CE2-9B2C-8826CE52E7B6}" type="presParOf" srcId="{806EF2A3-0580-4C31-A230-FD9796ED6A03}" destId="{2C056A19-35F4-4DF2-A14A-8A7CFB7F21B7}" srcOrd="2" destOrd="0" presId="urn:microsoft.com/office/officeart/2016/7/layout/BasicLinearProcessNumbered"/>
    <dgm:cxn modelId="{EB14ED5C-E05D-4EA2-B9A4-3348CEA32EBE}" type="presParOf" srcId="{2C056A19-35F4-4DF2-A14A-8A7CFB7F21B7}" destId="{C11AAF4E-4515-45D2-A5E3-12633B78BD29}" srcOrd="0" destOrd="0" presId="urn:microsoft.com/office/officeart/2016/7/layout/BasicLinearProcessNumbered"/>
    <dgm:cxn modelId="{394ACE40-D573-4430-AF81-762A347EC6B8}" type="presParOf" srcId="{2C056A19-35F4-4DF2-A14A-8A7CFB7F21B7}" destId="{5D6EAD88-7B9B-49B5-8DA9-B2BC7C4F2442}" srcOrd="1" destOrd="0" presId="urn:microsoft.com/office/officeart/2016/7/layout/BasicLinearProcessNumbered"/>
    <dgm:cxn modelId="{2BB99C39-90F7-4EE3-9C18-98DE30FF93A8}" type="presParOf" srcId="{2C056A19-35F4-4DF2-A14A-8A7CFB7F21B7}" destId="{72090DC9-CFCC-4D6C-9828-11CB7B0C8522}" srcOrd="2" destOrd="0" presId="urn:microsoft.com/office/officeart/2016/7/layout/BasicLinearProcessNumbered"/>
    <dgm:cxn modelId="{10154ADC-C509-4529-AD64-E34B427EA893}" type="presParOf" srcId="{2C056A19-35F4-4DF2-A14A-8A7CFB7F21B7}" destId="{E087F63B-F6D0-45CB-B273-1D6F88C8EA68}" srcOrd="3" destOrd="0" presId="urn:microsoft.com/office/officeart/2016/7/layout/BasicLinearProcessNumbered"/>
    <dgm:cxn modelId="{075A9750-DAD3-403F-848D-9F0341C46D75}" type="presParOf" srcId="{806EF2A3-0580-4C31-A230-FD9796ED6A03}" destId="{87F9CBEF-7D99-4E53-80CD-F1488D54E8DB}" srcOrd="3" destOrd="0" presId="urn:microsoft.com/office/officeart/2016/7/layout/BasicLinearProcessNumbered"/>
    <dgm:cxn modelId="{23BC05BA-A6A5-4292-B3FD-C50199F30715}" type="presParOf" srcId="{806EF2A3-0580-4C31-A230-FD9796ED6A03}" destId="{18CB940D-E69A-40D6-B7D5-1161FF06FA4E}" srcOrd="4" destOrd="0" presId="urn:microsoft.com/office/officeart/2016/7/layout/BasicLinearProcessNumbered"/>
    <dgm:cxn modelId="{69B2003B-638A-4BA4-9966-7BFE3E231197}" type="presParOf" srcId="{18CB940D-E69A-40D6-B7D5-1161FF06FA4E}" destId="{30AD2208-B541-4B16-B593-48F7A46B6B21}" srcOrd="0" destOrd="0" presId="urn:microsoft.com/office/officeart/2016/7/layout/BasicLinearProcessNumbered"/>
    <dgm:cxn modelId="{17DF864C-1647-4651-AC18-ED3C72CA3D48}" type="presParOf" srcId="{18CB940D-E69A-40D6-B7D5-1161FF06FA4E}" destId="{369037A7-B66E-42DF-BD37-B73D077961E9}" srcOrd="1" destOrd="0" presId="urn:microsoft.com/office/officeart/2016/7/layout/BasicLinearProcessNumbered"/>
    <dgm:cxn modelId="{71CA1432-0287-4534-90B4-219F2B89976E}" type="presParOf" srcId="{18CB940D-E69A-40D6-B7D5-1161FF06FA4E}" destId="{C637DCD3-80ED-425F-921A-178255E58806}" srcOrd="2" destOrd="0" presId="urn:microsoft.com/office/officeart/2016/7/layout/BasicLinearProcessNumbered"/>
    <dgm:cxn modelId="{10ADFFB7-B40C-49E7-9A44-CA822633E369}" type="presParOf" srcId="{18CB940D-E69A-40D6-B7D5-1161FF06FA4E}" destId="{B44CA76D-2D96-41C9-984E-8DE1D6180C49}"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E84029-03AE-4493-9A6E-89200F8AB4B2}"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3EFECAF9-F35B-40D2-96E9-DCF81A9ED6C8}">
      <dgm:prSet/>
      <dgm:spPr/>
      <dgm:t>
        <a:bodyPr/>
        <a:lstStyle/>
        <a:p>
          <a:r>
            <a:rPr lang="en-US"/>
            <a:t>SHAP provides insight into why and how the models make predictions. It helps:</a:t>
          </a:r>
        </a:p>
      </dgm:t>
    </dgm:pt>
    <dgm:pt modelId="{82C9DEBF-74B0-4F06-BE46-39B2C3510F66}" type="parTrans" cxnId="{B3665E66-D309-412F-B98D-9C581D070A5B}">
      <dgm:prSet/>
      <dgm:spPr/>
      <dgm:t>
        <a:bodyPr/>
        <a:lstStyle/>
        <a:p>
          <a:endParaRPr lang="en-US"/>
        </a:p>
      </dgm:t>
    </dgm:pt>
    <dgm:pt modelId="{8DF23825-DF05-4F89-90AA-AE09D9F7049A}" type="sibTrans" cxnId="{B3665E66-D309-412F-B98D-9C581D070A5B}">
      <dgm:prSet/>
      <dgm:spPr/>
      <dgm:t>
        <a:bodyPr/>
        <a:lstStyle/>
        <a:p>
          <a:endParaRPr lang="en-US"/>
        </a:p>
      </dgm:t>
    </dgm:pt>
    <dgm:pt modelId="{FE5DBE10-AB42-4AFC-A6FC-292C8421083F}">
      <dgm:prSet/>
      <dgm:spPr/>
      <dgm:t>
        <a:bodyPr/>
        <a:lstStyle/>
        <a:p>
          <a:r>
            <a:rPr lang="en-US"/>
            <a:t>Identify if the relationship between gene expression and survival is consistent and robust across different models and patient subgroups.</a:t>
          </a:r>
        </a:p>
      </dgm:t>
    </dgm:pt>
    <dgm:pt modelId="{0E9348CD-1C8C-4403-8F4B-BC9BC6AAFFCB}" type="parTrans" cxnId="{9304F240-26FF-4673-B2AF-C785E869986E}">
      <dgm:prSet/>
      <dgm:spPr/>
      <dgm:t>
        <a:bodyPr/>
        <a:lstStyle/>
        <a:p>
          <a:endParaRPr lang="en-US"/>
        </a:p>
      </dgm:t>
    </dgm:pt>
    <dgm:pt modelId="{B9729216-584F-422E-BC2C-3811FA0F6433}" type="sibTrans" cxnId="{9304F240-26FF-4673-B2AF-C785E869986E}">
      <dgm:prSet/>
      <dgm:spPr/>
      <dgm:t>
        <a:bodyPr/>
        <a:lstStyle/>
        <a:p>
          <a:endParaRPr lang="en-US"/>
        </a:p>
      </dgm:t>
    </dgm:pt>
    <dgm:pt modelId="{5B666160-E3B1-4A12-BCAA-B8432C251DD9}">
      <dgm:prSet/>
      <dgm:spPr/>
      <dgm:t>
        <a:bodyPr/>
        <a:lstStyle/>
        <a:p>
          <a:r>
            <a:rPr lang="en-US"/>
            <a:t>Assess the directionality of the impact (e.g., whether higher/lower expression improves or worsens survival).</a:t>
          </a:r>
        </a:p>
      </dgm:t>
    </dgm:pt>
    <dgm:pt modelId="{53555009-84A8-4451-ACEB-2AC320E08422}" type="parTrans" cxnId="{D0EC54B0-E398-4119-A77B-D10979ADC909}">
      <dgm:prSet/>
      <dgm:spPr/>
      <dgm:t>
        <a:bodyPr/>
        <a:lstStyle/>
        <a:p>
          <a:endParaRPr lang="en-US"/>
        </a:p>
      </dgm:t>
    </dgm:pt>
    <dgm:pt modelId="{D1B4021E-6DDE-4C9D-8605-2F5CB8E985D8}" type="sibTrans" cxnId="{D0EC54B0-E398-4119-A77B-D10979ADC909}">
      <dgm:prSet/>
      <dgm:spPr/>
      <dgm:t>
        <a:bodyPr/>
        <a:lstStyle/>
        <a:p>
          <a:endParaRPr lang="en-US"/>
        </a:p>
      </dgm:t>
    </dgm:pt>
    <dgm:pt modelId="{CEB730FA-3C7A-483F-888A-323EFE98143F}">
      <dgm:prSet/>
      <dgm:spPr/>
      <dgm:t>
        <a:bodyPr/>
        <a:lstStyle/>
        <a:p>
          <a:r>
            <a:rPr lang="en-US"/>
            <a:t>Multiple machine learning models independently highlight the same genes as significant.</a:t>
          </a:r>
        </a:p>
      </dgm:t>
    </dgm:pt>
    <dgm:pt modelId="{5E05D8BA-36BB-4FA8-9D13-0DF3FE80EB4A}" type="parTrans" cxnId="{06B109BE-9A61-4EC8-89BE-FF8EA7ED47B5}">
      <dgm:prSet/>
      <dgm:spPr/>
      <dgm:t>
        <a:bodyPr/>
        <a:lstStyle/>
        <a:p>
          <a:endParaRPr lang="en-US"/>
        </a:p>
      </dgm:t>
    </dgm:pt>
    <dgm:pt modelId="{D4E1FBCC-1BAE-4233-A57E-099E28ABBD5B}" type="sibTrans" cxnId="{06B109BE-9A61-4EC8-89BE-FF8EA7ED47B5}">
      <dgm:prSet/>
      <dgm:spPr/>
      <dgm:t>
        <a:bodyPr/>
        <a:lstStyle/>
        <a:p>
          <a:endParaRPr lang="en-US"/>
        </a:p>
      </dgm:t>
    </dgm:pt>
    <dgm:pt modelId="{39D073BA-656E-4413-A5A1-0B29284EDF04}">
      <dgm:prSet/>
      <dgm:spPr/>
      <dgm:t>
        <a:bodyPr/>
        <a:lstStyle/>
        <a:p>
          <a:r>
            <a:rPr lang="en-US"/>
            <a:t>Consistent results across different algorithms strengthen the argument that these biomarkers are causally linked to survival, not artifacts of specific model behavior.</a:t>
          </a:r>
        </a:p>
      </dgm:t>
    </dgm:pt>
    <dgm:pt modelId="{C75D1A37-0AF1-4FAF-93F4-CE490195B36B}" type="parTrans" cxnId="{0AC29246-7559-48CE-A64D-4D2BF398671F}">
      <dgm:prSet/>
      <dgm:spPr/>
      <dgm:t>
        <a:bodyPr/>
        <a:lstStyle/>
        <a:p>
          <a:endParaRPr lang="en-US"/>
        </a:p>
      </dgm:t>
    </dgm:pt>
    <dgm:pt modelId="{585D7521-1D47-42F5-AFD7-6AA4BFDE4839}" type="sibTrans" cxnId="{0AC29246-7559-48CE-A64D-4D2BF398671F}">
      <dgm:prSet/>
      <dgm:spPr/>
      <dgm:t>
        <a:bodyPr/>
        <a:lstStyle/>
        <a:p>
          <a:endParaRPr lang="en-US"/>
        </a:p>
      </dgm:t>
    </dgm:pt>
    <dgm:pt modelId="{63EC7B68-B219-47DB-AF2A-C7C87DBAB485}" type="pres">
      <dgm:prSet presAssocID="{AAE84029-03AE-4493-9A6E-89200F8AB4B2}" presName="Name0" presStyleCnt="0">
        <dgm:presLayoutVars>
          <dgm:dir/>
          <dgm:animLvl val="lvl"/>
          <dgm:resizeHandles val="exact"/>
        </dgm:presLayoutVars>
      </dgm:prSet>
      <dgm:spPr/>
    </dgm:pt>
    <dgm:pt modelId="{E9B6E436-C86C-4F05-9496-AFA4649CF323}" type="pres">
      <dgm:prSet presAssocID="{39D073BA-656E-4413-A5A1-0B29284EDF04}" presName="boxAndChildren" presStyleCnt="0"/>
      <dgm:spPr/>
    </dgm:pt>
    <dgm:pt modelId="{5E8E61A2-E064-4922-BECF-4CA56F014CD8}" type="pres">
      <dgm:prSet presAssocID="{39D073BA-656E-4413-A5A1-0B29284EDF04}" presName="parentTextBox" presStyleLbl="node1" presStyleIdx="0" presStyleCnt="3"/>
      <dgm:spPr/>
    </dgm:pt>
    <dgm:pt modelId="{BA4535AA-21A5-4D22-AEF2-996D03F17EFC}" type="pres">
      <dgm:prSet presAssocID="{D4E1FBCC-1BAE-4233-A57E-099E28ABBD5B}" presName="sp" presStyleCnt="0"/>
      <dgm:spPr/>
    </dgm:pt>
    <dgm:pt modelId="{45E442C3-7077-4B7A-9730-D59A401DFDA0}" type="pres">
      <dgm:prSet presAssocID="{CEB730FA-3C7A-483F-888A-323EFE98143F}" presName="arrowAndChildren" presStyleCnt="0"/>
      <dgm:spPr/>
    </dgm:pt>
    <dgm:pt modelId="{CDFC1170-0DC4-41C0-9E30-2F04874BDBC2}" type="pres">
      <dgm:prSet presAssocID="{CEB730FA-3C7A-483F-888A-323EFE98143F}" presName="parentTextArrow" presStyleLbl="node1" presStyleIdx="1" presStyleCnt="3"/>
      <dgm:spPr/>
    </dgm:pt>
    <dgm:pt modelId="{1CF247FC-32C9-458E-868E-EF5B5F025E5E}" type="pres">
      <dgm:prSet presAssocID="{8DF23825-DF05-4F89-90AA-AE09D9F7049A}" presName="sp" presStyleCnt="0"/>
      <dgm:spPr/>
    </dgm:pt>
    <dgm:pt modelId="{151A02C2-0725-41C8-A6DA-12201C119DB0}" type="pres">
      <dgm:prSet presAssocID="{3EFECAF9-F35B-40D2-96E9-DCF81A9ED6C8}" presName="arrowAndChildren" presStyleCnt="0"/>
      <dgm:spPr/>
    </dgm:pt>
    <dgm:pt modelId="{35F34CAE-B103-46FB-9EF5-FBFB914333E4}" type="pres">
      <dgm:prSet presAssocID="{3EFECAF9-F35B-40D2-96E9-DCF81A9ED6C8}" presName="parentTextArrow" presStyleLbl="node1" presStyleIdx="1" presStyleCnt="3"/>
      <dgm:spPr/>
    </dgm:pt>
    <dgm:pt modelId="{62174F68-6ECF-469C-890A-6ED196819BC9}" type="pres">
      <dgm:prSet presAssocID="{3EFECAF9-F35B-40D2-96E9-DCF81A9ED6C8}" presName="arrow" presStyleLbl="node1" presStyleIdx="2" presStyleCnt="3"/>
      <dgm:spPr/>
    </dgm:pt>
    <dgm:pt modelId="{85E94228-0679-41DD-A264-898FA6B49462}" type="pres">
      <dgm:prSet presAssocID="{3EFECAF9-F35B-40D2-96E9-DCF81A9ED6C8}" presName="descendantArrow" presStyleCnt="0"/>
      <dgm:spPr/>
    </dgm:pt>
    <dgm:pt modelId="{3AD5A180-BCAC-4FEE-A4A5-C6BFB5A6840A}" type="pres">
      <dgm:prSet presAssocID="{FE5DBE10-AB42-4AFC-A6FC-292C8421083F}" presName="childTextArrow" presStyleLbl="fgAccFollowNode1" presStyleIdx="0" presStyleCnt="2">
        <dgm:presLayoutVars>
          <dgm:bulletEnabled val="1"/>
        </dgm:presLayoutVars>
      </dgm:prSet>
      <dgm:spPr/>
    </dgm:pt>
    <dgm:pt modelId="{57B4E20C-09FB-45AB-A7A7-E63DDCC66CB8}" type="pres">
      <dgm:prSet presAssocID="{5B666160-E3B1-4A12-BCAA-B8432C251DD9}" presName="childTextArrow" presStyleLbl="fgAccFollowNode1" presStyleIdx="1" presStyleCnt="2">
        <dgm:presLayoutVars>
          <dgm:bulletEnabled val="1"/>
        </dgm:presLayoutVars>
      </dgm:prSet>
      <dgm:spPr/>
    </dgm:pt>
  </dgm:ptLst>
  <dgm:cxnLst>
    <dgm:cxn modelId="{44269E1F-6C34-4F08-ADD7-2A9DDC61D0D3}" type="presOf" srcId="{5B666160-E3B1-4A12-BCAA-B8432C251DD9}" destId="{57B4E20C-09FB-45AB-A7A7-E63DDCC66CB8}" srcOrd="0" destOrd="0" presId="urn:microsoft.com/office/officeart/2005/8/layout/process4"/>
    <dgm:cxn modelId="{9304F240-26FF-4673-B2AF-C785E869986E}" srcId="{3EFECAF9-F35B-40D2-96E9-DCF81A9ED6C8}" destId="{FE5DBE10-AB42-4AFC-A6FC-292C8421083F}" srcOrd="0" destOrd="0" parTransId="{0E9348CD-1C8C-4403-8F4B-BC9BC6AAFFCB}" sibTransId="{B9729216-584F-422E-BC2C-3811FA0F6433}"/>
    <dgm:cxn modelId="{B3665E66-D309-412F-B98D-9C581D070A5B}" srcId="{AAE84029-03AE-4493-9A6E-89200F8AB4B2}" destId="{3EFECAF9-F35B-40D2-96E9-DCF81A9ED6C8}" srcOrd="0" destOrd="0" parTransId="{82C9DEBF-74B0-4F06-BE46-39B2C3510F66}" sibTransId="{8DF23825-DF05-4F89-90AA-AE09D9F7049A}"/>
    <dgm:cxn modelId="{0AC29246-7559-48CE-A64D-4D2BF398671F}" srcId="{AAE84029-03AE-4493-9A6E-89200F8AB4B2}" destId="{39D073BA-656E-4413-A5A1-0B29284EDF04}" srcOrd="2" destOrd="0" parTransId="{C75D1A37-0AF1-4FAF-93F4-CE490195B36B}" sibTransId="{585D7521-1D47-42F5-AFD7-6AA4BFDE4839}"/>
    <dgm:cxn modelId="{D0C60755-3EB4-4261-A76A-93CEECE1F1BE}" type="presOf" srcId="{3EFECAF9-F35B-40D2-96E9-DCF81A9ED6C8}" destId="{62174F68-6ECF-469C-890A-6ED196819BC9}" srcOrd="1" destOrd="0" presId="urn:microsoft.com/office/officeart/2005/8/layout/process4"/>
    <dgm:cxn modelId="{7E1A5277-C3C3-437E-A763-C65050549D0F}" type="presOf" srcId="{CEB730FA-3C7A-483F-888A-323EFE98143F}" destId="{CDFC1170-0DC4-41C0-9E30-2F04874BDBC2}" srcOrd="0" destOrd="0" presId="urn:microsoft.com/office/officeart/2005/8/layout/process4"/>
    <dgm:cxn modelId="{4A4DE385-CDD1-40EF-B060-F4B9B43AA27B}" type="presOf" srcId="{3EFECAF9-F35B-40D2-96E9-DCF81A9ED6C8}" destId="{35F34CAE-B103-46FB-9EF5-FBFB914333E4}" srcOrd="0" destOrd="0" presId="urn:microsoft.com/office/officeart/2005/8/layout/process4"/>
    <dgm:cxn modelId="{75C42E99-0A05-482E-B5B3-3B0F6A4106A8}" type="presOf" srcId="{AAE84029-03AE-4493-9A6E-89200F8AB4B2}" destId="{63EC7B68-B219-47DB-AF2A-C7C87DBAB485}" srcOrd="0" destOrd="0" presId="urn:microsoft.com/office/officeart/2005/8/layout/process4"/>
    <dgm:cxn modelId="{60500EA3-7F8C-491F-AD3F-A8FE01FC47F5}" type="presOf" srcId="{39D073BA-656E-4413-A5A1-0B29284EDF04}" destId="{5E8E61A2-E064-4922-BECF-4CA56F014CD8}" srcOrd="0" destOrd="0" presId="urn:microsoft.com/office/officeart/2005/8/layout/process4"/>
    <dgm:cxn modelId="{D0EC54B0-E398-4119-A77B-D10979ADC909}" srcId="{3EFECAF9-F35B-40D2-96E9-DCF81A9ED6C8}" destId="{5B666160-E3B1-4A12-BCAA-B8432C251DD9}" srcOrd="1" destOrd="0" parTransId="{53555009-84A8-4451-ACEB-2AC320E08422}" sibTransId="{D1B4021E-6DDE-4C9D-8605-2F5CB8E985D8}"/>
    <dgm:cxn modelId="{06B109BE-9A61-4EC8-89BE-FF8EA7ED47B5}" srcId="{AAE84029-03AE-4493-9A6E-89200F8AB4B2}" destId="{CEB730FA-3C7A-483F-888A-323EFE98143F}" srcOrd="1" destOrd="0" parTransId="{5E05D8BA-36BB-4FA8-9D13-0DF3FE80EB4A}" sibTransId="{D4E1FBCC-1BAE-4233-A57E-099E28ABBD5B}"/>
    <dgm:cxn modelId="{8B29DDC1-0E0C-4F8C-8F21-AEE23195F005}" type="presOf" srcId="{FE5DBE10-AB42-4AFC-A6FC-292C8421083F}" destId="{3AD5A180-BCAC-4FEE-A4A5-C6BFB5A6840A}" srcOrd="0" destOrd="0" presId="urn:microsoft.com/office/officeart/2005/8/layout/process4"/>
    <dgm:cxn modelId="{4264571B-6C13-47AB-9B84-4333DB83D236}" type="presParOf" srcId="{63EC7B68-B219-47DB-AF2A-C7C87DBAB485}" destId="{E9B6E436-C86C-4F05-9496-AFA4649CF323}" srcOrd="0" destOrd="0" presId="urn:microsoft.com/office/officeart/2005/8/layout/process4"/>
    <dgm:cxn modelId="{4422E57C-0AE0-47D4-8B30-7CB59D0998AD}" type="presParOf" srcId="{E9B6E436-C86C-4F05-9496-AFA4649CF323}" destId="{5E8E61A2-E064-4922-BECF-4CA56F014CD8}" srcOrd="0" destOrd="0" presId="urn:microsoft.com/office/officeart/2005/8/layout/process4"/>
    <dgm:cxn modelId="{443620AF-D4DB-4298-BA1F-D91322F06D9D}" type="presParOf" srcId="{63EC7B68-B219-47DB-AF2A-C7C87DBAB485}" destId="{BA4535AA-21A5-4D22-AEF2-996D03F17EFC}" srcOrd="1" destOrd="0" presId="urn:microsoft.com/office/officeart/2005/8/layout/process4"/>
    <dgm:cxn modelId="{2A27ED2A-9757-46BE-B8CF-72E922CE6188}" type="presParOf" srcId="{63EC7B68-B219-47DB-AF2A-C7C87DBAB485}" destId="{45E442C3-7077-4B7A-9730-D59A401DFDA0}" srcOrd="2" destOrd="0" presId="urn:microsoft.com/office/officeart/2005/8/layout/process4"/>
    <dgm:cxn modelId="{3310BD67-D893-49F0-8343-8B10CD5144B8}" type="presParOf" srcId="{45E442C3-7077-4B7A-9730-D59A401DFDA0}" destId="{CDFC1170-0DC4-41C0-9E30-2F04874BDBC2}" srcOrd="0" destOrd="0" presId="urn:microsoft.com/office/officeart/2005/8/layout/process4"/>
    <dgm:cxn modelId="{2C41682D-9209-4079-9CC5-B85EFE6D63D7}" type="presParOf" srcId="{63EC7B68-B219-47DB-AF2A-C7C87DBAB485}" destId="{1CF247FC-32C9-458E-868E-EF5B5F025E5E}" srcOrd="3" destOrd="0" presId="urn:microsoft.com/office/officeart/2005/8/layout/process4"/>
    <dgm:cxn modelId="{41CEC997-9957-4190-B09A-44D3E4EB2078}" type="presParOf" srcId="{63EC7B68-B219-47DB-AF2A-C7C87DBAB485}" destId="{151A02C2-0725-41C8-A6DA-12201C119DB0}" srcOrd="4" destOrd="0" presId="urn:microsoft.com/office/officeart/2005/8/layout/process4"/>
    <dgm:cxn modelId="{958F5410-B5D9-4F79-83AF-A2970D43BED6}" type="presParOf" srcId="{151A02C2-0725-41C8-A6DA-12201C119DB0}" destId="{35F34CAE-B103-46FB-9EF5-FBFB914333E4}" srcOrd="0" destOrd="0" presId="urn:microsoft.com/office/officeart/2005/8/layout/process4"/>
    <dgm:cxn modelId="{011EA21B-7C67-428D-9EDA-A48CBAE8C40E}" type="presParOf" srcId="{151A02C2-0725-41C8-A6DA-12201C119DB0}" destId="{62174F68-6ECF-469C-890A-6ED196819BC9}" srcOrd="1" destOrd="0" presId="urn:microsoft.com/office/officeart/2005/8/layout/process4"/>
    <dgm:cxn modelId="{3F824953-1E61-4962-840C-D72F96C4EDC3}" type="presParOf" srcId="{151A02C2-0725-41C8-A6DA-12201C119DB0}" destId="{85E94228-0679-41DD-A264-898FA6B49462}" srcOrd="2" destOrd="0" presId="urn:microsoft.com/office/officeart/2005/8/layout/process4"/>
    <dgm:cxn modelId="{2D5513F7-675C-4CAE-B7A7-9DBAC3113516}" type="presParOf" srcId="{85E94228-0679-41DD-A264-898FA6B49462}" destId="{3AD5A180-BCAC-4FEE-A4A5-C6BFB5A6840A}" srcOrd="0" destOrd="0" presId="urn:microsoft.com/office/officeart/2005/8/layout/process4"/>
    <dgm:cxn modelId="{C94CA5D8-9925-4C1A-8405-2097300E1729}" type="presParOf" srcId="{85E94228-0679-41DD-A264-898FA6B49462}" destId="{57B4E20C-09FB-45AB-A7A7-E63DDCC66CB8}"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77CA74-1984-44FC-9233-0B1E6067D4CD}"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1F9264A5-CCA7-44A9-9BAC-1D38EB9B35E6}">
      <dgm:prSet/>
      <dgm:spPr/>
      <dgm:t>
        <a:bodyPr/>
        <a:lstStyle/>
        <a:p>
          <a:r>
            <a:rPr lang="en-US"/>
            <a:t>The study uses </a:t>
          </a:r>
          <a:r>
            <a:rPr lang="en-US" b="1"/>
            <a:t>probabilistic causal inference</a:t>
          </a:r>
          <a:r>
            <a:rPr lang="en-US"/>
            <a:t> to evaluate whether changes in gene expression levels </a:t>
          </a:r>
          <a:r>
            <a:rPr lang="en-US" b="1"/>
            <a:t>cause</a:t>
          </a:r>
          <a:r>
            <a:rPr lang="en-US"/>
            <a:t> changes in survival outcomes (rather than merely </a:t>
          </a:r>
          <a:r>
            <a:rPr lang="en-US" b="1"/>
            <a:t>correlate</a:t>
          </a:r>
          <a:r>
            <a:rPr lang="en-US"/>
            <a:t> with them)</a:t>
          </a:r>
        </a:p>
      </dgm:t>
    </dgm:pt>
    <dgm:pt modelId="{BE7F8780-9160-4F86-868A-5FF8680C3DDC}" type="parTrans" cxnId="{4BFB912A-DDA7-4184-A759-3BDED635ADA6}">
      <dgm:prSet/>
      <dgm:spPr/>
      <dgm:t>
        <a:bodyPr/>
        <a:lstStyle/>
        <a:p>
          <a:endParaRPr lang="en-US"/>
        </a:p>
      </dgm:t>
    </dgm:pt>
    <dgm:pt modelId="{285D7402-9ACB-4069-84B4-7561D7E85101}" type="sibTrans" cxnId="{4BFB912A-DDA7-4184-A759-3BDED635ADA6}">
      <dgm:prSet/>
      <dgm:spPr/>
      <dgm:t>
        <a:bodyPr/>
        <a:lstStyle/>
        <a:p>
          <a:endParaRPr lang="en-US"/>
        </a:p>
      </dgm:t>
    </dgm:pt>
    <dgm:pt modelId="{69F65D18-3189-4055-B785-C336E5B9FD66}">
      <dgm:prSet/>
      <dgm:spPr/>
      <dgm:t>
        <a:bodyPr/>
        <a:lstStyle/>
        <a:p>
          <a:r>
            <a:rPr lang="en-US"/>
            <a:t>This method goes beyond correlations by </a:t>
          </a:r>
          <a:r>
            <a:rPr lang="en-US" b="1"/>
            <a:t>examining conditional dependencies</a:t>
          </a:r>
          <a:r>
            <a:rPr lang="en-US"/>
            <a:t> and the likelihood that specific gene expressions directly influence survival.</a:t>
          </a:r>
        </a:p>
      </dgm:t>
    </dgm:pt>
    <dgm:pt modelId="{080A5988-2D2F-4AE5-B624-E9F4518E7412}" type="parTrans" cxnId="{F3691964-50F8-4A33-8BA9-224869A3D317}">
      <dgm:prSet/>
      <dgm:spPr/>
      <dgm:t>
        <a:bodyPr/>
        <a:lstStyle/>
        <a:p>
          <a:endParaRPr lang="en-US"/>
        </a:p>
      </dgm:t>
    </dgm:pt>
    <dgm:pt modelId="{5B2CE8B9-B73F-42C4-9E92-CD937A8651B0}" type="sibTrans" cxnId="{F3691964-50F8-4A33-8BA9-224869A3D317}">
      <dgm:prSet/>
      <dgm:spPr/>
      <dgm:t>
        <a:bodyPr/>
        <a:lstStyle/>
        <a:p>
          <a:endParaRPr lang="en-US"/>
        </a:p>
      </dgm:t>
    </dgm:pt>
    <dgm:pt modelId="{4D5B6054-FDD0-4F9B-BF76-2A41112E241F}">
      <dgm:prSet/>
      <dgm:spPr/>
      <dgm:t>
        <a:bodyPr/>
        <a:lstStyle/>
        <a:p>
          <a:r>
            <a:rPr lang="en-US"/>
            <a:t>The framework accounts for </a:t>
          </a:r>
          <a:r>
            <a:rPr lang="en-US" b="1"/>
            <a:t>potential confounding factors </a:t>
          </a:r>
          <a:r>
            <a:rPr lang="en-US"/>
            <a:t>(e.g., patient demographics, clinical conditions) to isolate the independent effects of each gene. This ensures that the relationship between gene expression and survival is not driven by other unrelated variables.</a:t>
          </a:r>
        </a:p>
      </dgm:t>
    </dgm:pt>
    <dgm:pt modelId="{F5DDF040-1232-4AD7-8EC3-1274055F5D5C}" type="parTrans" cxnId="{B3984D39-3475-4487-A85E-15C7F53C6710}">
      <dgm:prSet/>
      <dgm:spPr/>
      <dgm:t>
        <a:bodyPr/>
        <a:lstStyle/>
        <a:p>
          <a:endParaRPr lang="en-US"/>
        </a:p>
      </dgm:t>
    </dgm:pt>
    <dgm:pt modelId="{C1FD554A-071C-43B9-A0B8-AA7344B051E1}" type="sibTrans" cxnId="{B3984D39-3475-4487-A85E-15C7F53C6710}">
      <dgm:prSet/>
      <dgm:spPr/>
      <dgm:t>
        <a:bodyPr/>
        <a:lstStyle/>
        <a:p>
          <a:endParaRPr lang="en-US"/>
        </a:p>
      </dgm:t>
    </dgm:pt>
    <dgm:pt modelId="{434B701A-79F8-424A-B0F7-AC9642F99F3A}" type="pres">
      <dgm:prSet presAssocID="{ED77CA74-1984-44FC-9233-0B1E6067D4CD}" presName="Name0" presStyleCnt="0">
        <dgm:presLayoutVars>
          <dgm:dir/>
          <dgm:animLvl val="lvl"/>
          <dgm:resizeHandles val="exact"/>
        </dgm:presLayoutVars>
      </dgm:prSet>
      <dgm:spPr/>
    </dgm:pt>
    <dgm:pt modelId="{A601A1F2-27EE-47EB-9F90-FA7E3201466E}" type="pres">
      <dgm:prSet presAssocID="{4D5B6054-FDD0-4F9B-BF76-2A41112E241F}" presName="boxAndChildren" presStyleCnt="0"/>
      <dgm:spPr/>
    </dgm:pt>
    <dgm:pt modelId="{BC93D4DA-3E50-4E7E-8BF2-475EEBAE1703}" type="pres">
      <dgm:prSet presAssocID="{4D5B6054-FDD0-4F9B-BF76-2A41112E241F}" presName="parentTextBox" presStyleLbl="node1" presStyleIdx="0" presStyleCnt="3"/>
      <dgm:spPr/>
    </dgm:pt>
    <dgm:pt modelId="{A91B707B-8EE6-4321-8DE6-1EE56BF31DB5}" type="pres">
      <dgm:prSet presAssocID="{5B2CE8B9-B73F-42C4-9E92-CD937A8651B0}" presName="sp" presStyleCnt="0"/>
      <dgm:spPr/>
    </dgm:pt>
    <dgm:pt modelId="{75BEB7FB-ACC0-4C88-BB48-78401AC81E54}" type="pres">
      <dgm:prSet presAssocID="{69F65D18-3189-4055-B785-C336E5B9FD66}" presName="arrowAndChildren" presStyleCnt="0"/>
      <dgm:spPr/>
    </dgm:pt>
    <dgm:pt modelId="{5140423D-1E0B-4F19-B87F-C9CCF0CFF69E}" type="pres">
      <dgm:prSet presAssocID="{69F65D18-3189-4055-B785-C336E5B9FD66}" presName="parentTextArrow" presStyleLbl="node1" presStyleIdx="1" presStyleCnt="3"/>
      <dgm:spPr/>
    </dgm:pt>
    <dgm:pt modelId="{A9700F38-83AA-4FF1-AE1B-657CCB8A94D2}" type="pres">
      <dgm:prSet presAssocID="{285D7402-9ACB-4069-84B4-7561D7E85101}" presName="sp" presStyleCnt="0"/>
      <dgm:spPr/>
    </dgm:pt>
    <dgm:pt modelId="{BA562E05-5C1B-4202-A98C-196316113330}" type="pres">
      <dgm:prSet presAssocID="{1F9264A5-CCA7-44A9-9BAC-1D38EB9B35E6}" presName="arrowAndChildren" presStyleCnt="0"/>
      <dgm:spPr/>
    </dgm:pt>
    <dgm:pt modelId="{26A7F020-4F34-47D8-8729-9DCD364614B5}" type="pres">
      <dgm:prSet presAssocID="{1F9264A5-CCA7-44A9-9BAC-1D38EB9B35E6}" presName="parentTextArrow" presStyleLbl="node1" presStyleIdx="2" presStyleCnt="3"/>
      <dgm:spPr/>
    </dgm:pt>
  </dgm:ptLst>
  <dgm:cxnLst>
    <dgm:cxn modelId="{4BFB912A-DDA7-4184-A759-3BDED635ADA6}" srcId="{ED77CA74-1984-44FC-9233-0B1E6067D4CD}" destId="{1F9264A5-CCA7-44A9-9BAC-1D38EB9B35E6}" srcOrd="0" destOrd="0" parTransId="{BE7F8780-9160-4F86-868A-5FF8680C3DDC}" sibTransId="{285D7402-9ACB-4069-84B4-7561D7E85101}"/>
    <dgm:cxn modelId="{55BE7338-31E6-432D-9DAA-EFAC441B2DEA}" type="presOf" srcId="{69F65D18-3189-4055-B785-C336E5B9FD66}" destId="{5140423D-1E0B-4F19-B87F-C9CCF0CFF69E}" srcOrd="0" destOrd="0" presId="urn:microsoft.com/office/officeart/2005/8/layout/process4"/>
    <dgm:cxn modelId="{B3984D39-3475-4487-A85E-15C7F53C6710}" srcId="{ED77CA74-1984-44FC-9233-0B1E6067D4CD}" destId="{4D5B6054-FDD0-4F9B-BF76-2A41112E241F}" srcOrd="2" destOrd="0" parTransId="{F5DDF040-1232-4AD7-8EC3-1274055F5D5C}" sibTransId="{C1FD554A-071C-43B9-A0B8-AA7344B051E1}"/>
    <dgm:cxn modelId="{F3691964-50F8-4A33-8BA9-224869A3D317}" srcId="{ED77CA74-1984-44FC-9233-0B1E6067D4CD}" destId="{69F65D18-3189-4055-B785-C336E5B9FD66}" srcOrd="1" destOrd="0" parTransId="{080A5988-2D2F-4AE5-B624-E9F4518E7412}" sibTransId="{5B2CE8B9-B73F-42C4-9E92-CD937A8651B0}"/>
    <dgm:cxn modelId="{5FB93548-C7B0-4185-9CA4-3D38F145A138}" type="presOf" srcId="{1F9264A5-CCA7-44A9-9BAC-1D38EB9B35E6}" destId="{26A7F020-4F34-47D8-8729-9DCD364614B5}" srcOrd="0" destOrd="0" presId="urn:microsoft.com/office/officeart/2005/8/layout/process4"/>
    <dgm:cxn modelId="{8D3BB974-9D6F-431A-A540-0152170DFFD4}" type="presOf" srcId="{ED77CA74-1984-44FC-9233-0B1E6067D4CD}" destId="{434B701A-79F8-424A-B0F7-AC9642F99F3A}" srcOrd="0" destOrd="0" presId="urn:microsoft.com/office/officeart/2005/8/layout/process4"/>
    <dgm:cxn modelId="{6A969B8B-3712-4DEE-BFBF-ED7A41A78A8E}" type="presOf" srcId="{4D5B6054-FDD0-4F9B-BF76-2A41112E241F}" destId="{BC93D4DA-3E50-4E7E-8BF2-475EEBAE1703}" srcOrd="0" destOrd="0" presId="urn:microsoft.com/office/officeart/2005/8/layout/process4"/>
    <dgm:cxn modelId="{DE14E809-3418-4C2A-8297-4DC0092DB560}" type="presParOf" srcId="{434B701A-79F8-424A-B0F7-AC9642F99F3A}" destId="{A601A1F2-27EE-47EB-9F90-FA7E3201466E}" srcOrd="0" destOrd="0" presId="urn:microsoft.com/office/officeart/2005/8/layout/process4"/>
    <dgm:cxn modelId="{3C9F27E6-778D-4998-B969-BF635462FAE0}" type="presParOf" srcId="{A601A1F2-27EE-47EB-9F90-FA7E3201466E}" destId="{BC93D4DA-3E50-4E7E-8BF2-475EEBAE1703}" srcOrd="0" destOrd="0" presId="urn:microsoft.com/office/officeart/2005/8/layout/process4"/>
    <dgm:cxn modelId="{4AA27052-E3A4-4A12-AC1D-0E964349127D}" type="presParOf" srcId="{434B701A-79F8-424A-B0F7-AC9642F99F3A}" destId="{A91B707B-8EE6-4321-8DE6-1EE56BF31DB5}" srcOrd="1" destOrd="0" presId="urn:microsoft.com/office/officeart/2005/8/layout/process4"/>
    <dgm:cxn modelId="{BBD7DB32-27DB-4567-A737-E85D21AAF0E3}" type="presParOf" srcId="{434B701A-79F8-424A-B0F7-AC9642F99F3A}" destId="{75BEB7FB-ACC0-4C88-BB48-78401AC81E54}" srcOrd="2" destOrd="0" presId="urn:microsoft.com/office/officeart/2005/8/layout/process4"/>
    <dgm:cxn modelId="{EF382A99-6625-46C5-B669-F96C582E1226}" type="presParOf" srcId="{75BEB7FB-ACC0-4C88-BB48-78401AC81E54}" destId="{5140423D-1E0B-4F19-B87F-C9CCF0CFF69E}" srcOrd="0" destOrd="0" presId="urn:microsoft.com/office/officeart/2005/8/layout/process4"/>
    <dgm:cxn modelId="{2F3B55B6-AB2F-4BC4-8975-FA69A2798143}" type="presParOf" srcId="{434B701A-79F8-424A-B0F7-AC9642F99F3A}" destId="{A9700F38-83AA-4FF1-AE1B-657CCB8A94D2}" srcOrd="3" destOrd="0" presId="urn:microsoft.com/office/officeart/2005/8/layout/process4"/>
    <dgm:cxn modelId="{E568E863-7B79-4327-82A0-6AD552F26B63}" type="presParOf" srcId="{434B701A-79F8-424A-B0F7-AC9642F99F3A}" destId="{BA562E05-5C1B-4202-A98C-196316113330}" srcOrd="4" destOrd="0" presId="urn:microsoft.com/office/officeart/2005/8/layout/process4"/>
    <dgm:cxn modelId="{A8563FE6-0610-4E2C-9E5E-D69D79A3F5DB}" type="presParOf" srcId="{BA562E05-5C1B-4202-A98C-196316113330}" destId="{26A7F020-4F34-47D8-8729-9DCD364614B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605491-1A9A-4CD2-AA63-C83F5EA9567A}">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0BC678-21E9-4F3D-B920-81E981ADD048}">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A9F16B-A3FC-42C5-BC0B-3F7A48B3693C}">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dirty="0" err="1"/>
            <a:t>SHapley</a:t>
          </a:r>
          <a:r>
            <a:rPr lang="en-US" sz="1800" kern="1200" dirty="0"/>
            <a:t> Additive </a:t>
          </a:r>
          <a:r>
            <a:rPr lang="en-US" sz="1800" kern="1200" dirty="0" err="1"/>
            <a:t>exPlanations</a:t>
          </a:r>
          <a:r>
            <a:rPr lang="en-US" sz="1800" kern="1200" dirty="0"/>
            <a:t> (SHAP) was used for identifying the most impactful genes in predicting survival outcomes of HCC patients.</a:t>
          </a:r>
        </a:p>
      </dsp:txBody>
      <dsp:txXfrm>
        <a:off x="1844034" y="682"/>
        <a:ext cx="4401230" cy="1596566"/>
      </dsp:txXfrm>
    </dsp:sp>
    <dsp:sp modelId="{C3F95769-AB6D-45BA-A339-37B0030F18EE}">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5FDE32-844B-4E68-BB65-A103B24E341F}">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3FCA1B-23E1-4CAD-B392-17A5E405B8D4}">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dirty="0"/>
            <a:t>Post hoc game theory-based explainer model </a:t>
          </a:r>
        </a:p>
      </dsp:txBody>
      <dsp:txXfrm>
        <a:off x="1844034" y="1996390"/>
        <a:ext cx="4401230" cy="1596566"/>
      </dsp:txXfrm>
    </dsp:sp>
    <dsp:sp modelId="{011E28FA-A79E-4683-87FE-FBCFBA595B79}">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2F8758-FE3A-4911-83B1-6AB145B97C67}">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4A9A358-38DA-49C3-AE13-EE6BAAF7DC86}">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800100">
            <a:lnSpc>
              <a:spcPct val="90000"/>
            </a:lnSpc>
            <a:spcBef>
              <a:spcPct val="0"/>
            </a:spcBef>
            <a:spcAft>
              <a:spcPct val="35000"/>
            </a:spcAft>
            <a:buNone/>
          </a:pPr>
          <a:r>
            <a:rPr lang="en-US" sz="1800" kern="1200" dirty="0"/>
            <a:t>Based on the concept of </a:t>
          </a:r>
          <a:r>
            <a:rPr lang="en-US" sz="1800" b="1" kern="1200" dirty="0"/>
            <a:t>Shapley values</a:t>
          </a:r>
          <a:r>
            <a:rPr lang="en-US" sz="1800" kern="1200" dirty="0"/>
            <a:t> from cooperative game theory.</a:t>
          </a:r>
        </a:p>
      </dsp:txBody>
      <dsp:txXfrm>
        <a:off x="1844034" y="3992098"/>
        <a:ext cx="4401230" cy="15965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F5636-DBDF-4433-9AE3-1116730993A8}">
      <dsp:nvSpPr>
        <dsp:cNvPr id="0" name=""/>
        <dsp:cNvSpPr/>
      </dsp:nvSpPr>
      <dsp:spPr>
        <a:xfrm>
          <a:off x="1283"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893B3A-442C-40E6-A3E1-AEB801810202}">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Shapley values provide a way to distribute the total gains from cooperation among all participants in a game</a:t>
          </a:r>
        </a:p>
      </dsp:txBody>
      <dsp:txXfrm>
        <a:off x="585701" y="1066737"/>
        <a:ext cx="4337991" cy="2693452"/>
      </dsp:txXfrm>
    </dsp:sp>
    <dsp:sp modelId="{BA2FB58A-95E6-4934-A0D3-A0D3EE6D7528}">
      <dsp:nvSpPr>
        <dsp:cNvPr id="0" name=""/>
        <dsp:cNvSpPr/>
      </dsp:nvSpPr>
      <dsp:spPr>
        <a:xfrm>
          <a:off x="5508110" y="507350"/>
          <a:ext cx="4505585" cy="286104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8D6A74-B27B-459E-BCE1-C3ED1488301B}">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Each player's contribution is determined based on their contribution to the overall outcome when joining different subsets of players</a:t>
          </a:r>
        </a:p>
      </dsp:txBody>
      <dsp:txXfrm>
        <a:off x="6092527" y="1066737"/>
        <a:ext cx="4337991" cy="26934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F24C5C-DD4C-44BF-851E-39AEF2A0AC92}">
      <dsp:nvSpPr>
        <dsp:cNvPr id="0" name=""/>
        <dsp:cNvSpPr/>
      </dsp:nvSpPr>
      <dsp:spPr>
        <a:xfrm>
          <a:off x="0" y="0"/>
          <a:ext cx="3286125" cy="4351338"/>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44550">
            <a:lnSpc>
              <a:spcPct val="90000"/>
            </a:lnSpc>
            <a:spcBef>
              <a:spcPct val="0"/>
            </a:spcBef>
            <a:spcAft>
              <a:spcPct val="35000"/>
            </a:spcAft>
            <a:buNone/>
          </a:pPr>
          <a:r>
            <a:rPr lang="en-US" sz="1900" b="1" kern="1200"/>
            <a:t>Removing a Feature:</a:t>
          </a:r>
          <a:r>
            <a:rPr lang="en-US" sz="1900" kern="1200"/>
            <a:t> It evaluates the model's prediction without the feature.</a:t>
          </a:r>
        </a:p>
      </dsp:txBody>
      <dsp:txXfrm>
        <a:off x="0" y="1653508"/>
        <a:ext cx="3286125" cy="2610802"/>
      </dsp:txXfrm>
    </dsp:sp>
    <dsp:sp modelId="{F1B699C6-B882-4586-A897-9548B32CD054}">
      <dsp:nvSpPr>
        <dsp:cNvPr id="0" name=""/>
        <dsp:cNvSpPr/>
      </dsp:nvSpPr>
      <dsp:spPr>
        <a:xfrm>
          <a:off x="990361" y="435133"/>
          <a:ext cx="1305401" cy="130540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1533" y="626305"/>
        <a:ext cx="923057" cy="923057"/>
      </dsp:txXfrm>
    </dsp:sp>
    <dsp:sp modelId="{B38F7548-CBE1-4B5B-9C6A-3FD0B39F4F49}">
      <dsp:nvSpPr>
        <dsp:cNvPr id="0" name=""/>
        <dsp:cNvSpPr/>
      </dsp:nvSpPr>
      <dsp:spPr>
        <a:xfrm>
          <a:off x="0" y="4351266"/>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1AAF4E-4515-45D2-A5E3-12633B78BD29}">
      <dsp:nvSpPr>
        <dsp:cNvPr id="0" name=""/>
        <dsp:cNvSpPr/>
      </dsp:nvSpPr>
      <dsp:spPr>
        <a:xfrm>
          <a:off x="3614737" y="0"/>
          <a:ext cx="3286125" cy="4351338"/>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44550">
            <a:lnSpc>
              <a:spcPct val="90000"/>
            </a:lnSpc>
            <a:spcBef>
              <a:spcPct val="0"/>
            </a:spcBef>
            <a:spcAft>
              <a:spcPct val="35000"/>
            </a:spcAft>
            <a:buNone/>
          </a:pPr>
          <a:r>
            <a:rPr lang="en-US" sz="1900" b="1" kern="1200" dirty="0"/>
            <a:t>Re-Adding the Feature:</a:t>
          </a:r>
          <a:r>
            <a:rPr lang="en-US" sz="1900" kern="1200" dirty="0"/>
            <a:t> It evaluates how the prediction changes when the feature is added back.</a:t>
          </a:r>
        </a:p>
      </dsp:txBody>
      <dsp:txXfrm>
        <a:off x="3614737" y="1653508"/>
        <a:ext cx="3286125" cy="2610802"/>
      </dsp:txXfrm>
    </dsp:sp>
    <dsp:sp modelId="{5D6EAD88-7B9B-49B5-8DA9-B2BC7C4F2442}">
      <dsp:nvSpPr>
        <dsp:cNvPr id="0" name=""/>
        <dsp:cNvSpPr/>
      </dsp:nvSpPr>
      <dsp:spPr>
        <a:xfrm>
          <a:off x="4605099" y="435133"/>
          <a:ext cx="1305401" cy="1305401"/>
        </a:xfrm>
        <a:prstGeom prst="ellips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796271" y="626305"/>
        <a:ext cx="923057" cy="923057"/>
      </dsp:txXfrm>
    </dsp:sp>
    <dsp:sp modelId="{72090DC9-CFCC-4D6C-9828-11CB7B0C8522}">
      <dsp:nvSpPr>
        <dsp:cNvPr id="0" name=""/>
        <dsp:cNvSpPr/>
      </dsp:nvSpPr>
      <dsp:spPr>
        <a:xfrm>
          <a:off x="3614737" y="4351266"/>
          <a:ext cx="3286125" cy="72"/>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AD2208-B541-4B16-B593-48F7A46B6B21}">
      <dsp:nvSpPr>
        <dsp:cNvPr id="0" name=""/>
        <dsp:cNvSpPr/>
      </dsp:nvSpPr>
      <dsp:spPr>
        <a:xfrm>
          <a:off x="7229475" y="0"/>
          <a:ext cx="3286125" cy="4351338"/>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44550">
            <a:lnSpc>
              <a:spcPct val="90000"/>
            </a:lnSpc>
            <a:spcBef>
              <a:spcPct val="0"/>
            </a:spcBef>
            <a:spcAft>
              <a:spcPct val="35000"/>
            </a:spcAft>
            <a:buNone/>
          </a:pPr>
          <a:r>
            <a:rPr lang="en-US" sz="1900" b="1" kern="1200" dirty="0"/>
            <a:t>Averaging:</a:t>
          </a:r>
          <a:r>
            <a:rPr lang="en-US" sz="1900" kern="1200" dirty="0"/>
            <a:t> It repeats this process for all possible feature combinations and averages the results to compute the final Shapley value.</a:t>
          </a:r>
        </a:p>
      </dsp:txBody>
      <dsp:txXfrm>
        <a:off x="7229475" y="1653508"/>
        <a:ext cx="3286125" cy="2610802"/>
      </dsp:txXfrm>
    </dsp:sp>
    <dsp:sp modelId="{369037A7-B66E-42DF-BD37-B73D077961E9}">
      <dsp:nvSpPr>
        <dsp:cNvPr id="0" name=""/>
        <dsp:cNvSpPr/>
      </dsp:nvSpPr>
      <dsp:spPr>
        <a:xfrm>
          <a:off x="8219836" y="435133"/>
          <a:ext cx="1305401" cy="1305401"/>
        </a:xfrm>
        <a:prstGeom prst="ellips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11008" y="626305"/>
        <a:ext cx="923057" cy="923057"/>
      </dsp:txXfrm>
    </dsp:sp>
    <dsp:sp modelId="{C637DCD3-80ED-425F-921A-178255E58806}">
      <dsp:nvSpPr>
        <dsp:cNvPr id="0" name=""/>
        <dsp:cNvSpPr/>
      </dsp:nvSpPr>
      <dsp:spPr>
        <a:xfrm>
          <a:off x="7229475" y="4351266"/>
          <a:ext cx="3286125"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E61A2-E064-4922-BECF-4CA56F014CD8}">
      <dsp:nvSpPr>
        <dsp:cNvPr id="0" name=""/>
        <dsp:cNvSpPr/>
      </dsp:nvSpPr>
      <dsp:spPr>
        <a:xfrm>
          <a:off x="0" y="3275482"/>
          <a:ext cx="10515600" cy="107508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Consistent results across different algorithms strengthen the argument that these biomarkers are causally linked to survival, not artifacts of specific model behavior.</a:t>
          </a:r>
        </a:p>
      </dsp:txBody>
      <dsp:txXfrm>
        <a:off x="0" y="3275482"/>
        <a:ext cx="10515600" cy="1075086"/>
      </dsp:txXfrm>
    </dsp:sp>
    <dsp:sp modelId="{CDFC1170-0DC4-41C0-9E30-2F04874BDBC2}">
      <dsp:nvSpPr>
        <dsp:cNvPr id="0" name=""/>
        <dsp:cNvSpPr/>
      </dsp:nvSpPr>
      <dsp:spPr>
        <a:xfrm rot="10800000">
          <a:off x="0" y="1638125"/>
          <a:ext cx="10515600" cy="1653482"/>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Multiple machine learning models independently highlight the same genes as significant.</a:t>
          </a:r>
        </a:p>
      </dsp:txBody>
      <dsp:txXfrm rot="10800000">
        <a:off x="0" y="1638125"/>
        <a:ext cx="10515600" cy="1074383"/>
      </dsp:txXfrm>
    </dsp:sp>
    <dsp:sp modelId="{62174F68-6ECF-469C-890A-6ED196819BC9}">
      <dsp:nvSpPr>
        <dsp:cNvPr id="0" name=""/>
        <dsp:cNvSpPr/>
      </dsp:nvSpPr>
      <dsp:spPr>
        <a:xfrm rot="10800000">
          <a:off x="0" y="769"/>
          <a:ext cx="10515600" cy="1653482"/>
        </a:xfrm>
        <a:prstGeom prst="upArrowCallou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SHAP provides insight into why and how the models make predictions. It helps:</a:t>
          </a:r>
        </a:p>
      </dsp:txBody>
      <dsp:txXfrm rot="-10800000">
        <a:off x="0" y="769"/>
        <a:ext cx="10515600" cy="580372"/>
      </dsp:txXfrm>
    </dsp:sp>
    <dsp:sp modelId="{3AD5A180-BCAC-4FEE-A4A5-C6BFB5A6840A}">
      <dsp:nvSpPr>
        <dsp:cNvPr id="0" name=""/>
        <dsp:cNvSpPr/>
      </dsp:nvSpPr>
      <dsp:spPr>
        <a:xfrm>
          <a:off x="0" y="581141"/>
          <a:ext cx="5257799" cy="494391"/>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Identify if the relationship between gene expression and survival is consistent and robust across different models and patient subgroups.</a:t>
          </a:r>
        </a:p>
      </dsp:txBody>
      <dsp:txXfrm>
        <a:off x="0" y="581141"/>
        <a:ext cx="5257799" cy="494391"/>
      </dsp:txXfrm>
    </dsp:sp>
    <dsp:sp modelId="{57B4E20C-09FB-45AB-A7A7-E63DDCC66CB8}">
      <dsp:nvSpPr>
        <dsp:cNvPr id="0" name=""/>
        <dsp:cNvSpPr/>
      </dsp:nvSpPr>
      <dsp:spPr>
        <a:xfrm>
          <a:off x="5257800" y="581141"/>
          <a:ext cx="5257799" cy="494391"/>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ctr" defTabSz="533400">
            <a:lnSpc>
              <a:spcPct val="90000"/>
            </a:lnSpc>
            <a:spcBef>
              <a:spcPct val="0"/>
            </a:spcBef>
            <a:spcAft>
              <a:spcPct val="35000"/>
            </a:spcAft>
            <a:buNone/>
          </a:pPr>
          <a:r>
            <a:rPr lang="en-US" sz="1200" kern="1200"/>
            <a:t>Assess the directionality of the impact (e.g., whether higher/lower expression improves or worsens survival).</a:t>
          </a:r>
        </a:p>
      </dsp:txBody>
      <dsp:txXfrm>
        <a:off x="5257800" y="581141"/>
        <a:ext cx="5257799" cy="49439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3D4DA-3E50-4E7E-8BF2-475EEBAE1703}">
      <dsp:nvSpPr>
        <dsp:cNvPr id="0" name=""/>
        <dsp:cNvSpPr/>
      </dsp:nvSpPr>
      <dsp:spPr>
        <a:xfrm>
          <a:off x="0" y="3275482"/>
          <a:ext cx="10515600" cy="107508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The framework accounts for </a:t>
          </a:r>
          <a:r>
            <a:rPr lang="en-US" sz="1800" b="1" kern="1200"/>
            <a:t>potential confounding factors </a:t>
          </a:r>
          <a:r>
            <a:rPr lang="en-US" sz="1800" kern="1200"/>
            <a:t>(e.g., patient demographics, clinical conditions) to isolate the independent effects of each gene. This ensures that the relationship between gene expression and survival is not driven by other unrelated variables.</a:t>
          </a:r>
        </a:p>
      </dsp:txBody>
      <dsp:txXfrm>
        <a:off x="0" y="3275482"/>
        <a:ext cx="10515600" cy="1075086"/>
      </dsp:txXfrm>
    </dsp:sp>
    <dsp:sp modelId="{5140423D-1E0B-4F19-B87F-C9CCF0CFF69E}">
      <dsp:nvSpPr>
        <dsp:cNvPr id="0" name=""/>
        <dsp:cNvSpPr/>
      </dsp:nvSpPr>
      <dsp:spPr>
        <a:xfrm rot="10800000">
          <a:off x="0" y="1638125"/>
          <a:ext cx="10515600" cy="1653482"/>
        </a:xfrm>
        <a:prstGeom prst="upArrowCallout">
          <a:avLst/>
        </a:prstGeom>
        <a:solidFill>
          <a:schemeClr val="accent5">
            <a:hueOff val="1178392"/>
            <a:satOff val="-5635"/>
            <a:lumOff val="6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This method goes beyond correlations by </a:t>
          </a:r>
          <a:r>
            <a:rPr lang="en-US" sz="1800" b="1" kern="1200"/>
            <a:t>examining conditional dependencies</a:t>
          </a:r>
          <a:r>
            <a:rPr lang="en-US" sz="1800" kern="1200"/>
            <a:t> and the likelihood that specific gene expressions directly influence survival.</a:t>
          </a:r>
        </a:p>
      </dsp:txBody>
      <dsp:txXfrm rot="10800000">
        <a:off x="0" y="1638125"/>
        <a:ext cx="10515600" cy="1074383"/>
      </dsp:txXfrm>
    </dsp:sp>
    <dsp:sp modelId="{26A7F020-4F34-47D8-8729-9DCD364614B5}">
      <dsp:nvSpPr>
        <dsp:cNvPr id="0" name=""/>
        <dsp:cNvSpPr/>
      </dsp:nvSpPr>
      <dsp:spPr>
        <a:xfrm rot="10800000">
          <a:off x="0" y="769"/>
          <a:ext cx="10515600" cy="1653482"/>
        </a:xfrm>
        <a:prstGeom prst="upArrowCallout">
          <a:avLst/>
        </a:prstGeom>
        <a:solidFill>
          <a:schemeClr val="accent5">
            <a:hueOff val="2356783"/>
            <a:satOff val="-11270"/>
            <a:lumOff val="1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The study uses </a:t>
          </a:r>
          <a:r>
            <a:rPr lang="en-US" sz="1800" b="1" kern="1200"/>
            <a:t>probabilistic causal inference</a:t>
          </a:r>
          <a:r>
            <a:rPr lang="en-US" sz="1800" kern="1200"/>
            <a:t> to evaluate whether changes in gene expression levels </a:t>
          </a:r>
          <a:r>
            <a:rPr lang="en-US" sz="1800" b="1" kern="1200"/>
            <a:t>cause</a:t>
          </a:r>
          <a:r>
            <a:rPr lang="en-US" sz="1800" kern="1200"/>
            <a:t> changes in survival outcomes (rather than merely </a:t>
          </a:r>
          <a:r>
            <a:rPr lang="en-US" sz="1800" b="1" kern="1200"/>
            <a:t>correlate</a:t>
          </a:r>
          <a:r>
            <a:rPr lang="en-US" sz="1800" kern="1200"/>
            <a:t> with them)</a:t>
          </a:r>
        </a:p>
      </dsp:txBody>
      <dsp:txXfrm rot="10800000">
        <a:off x="0" y="769"/>
        <a:ext cx="10515600" cy="107438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F11A4F-86E3-40ED-A011-8F45F0C93412}" type="datetimeFigureOut">
              <a:rPr lang="en-AE" smtClean="0"/>
              <a:t>25/11/2024</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17FC4-117C-4A9E-B4CC-2EB1C46D6B16}" type="slidenum">
              <a:rPr lang="en-AE" smtClean="0"/>
              <a:t>‹#›</a:t>
            </a:fld>
            <a:endParaRPr lang="en-AE"/>
          </a:p>
        </p:txBody>
      </p:sp>
    </p:spTree>
    <p:extLst>
      <p:ext uri="{BB962C8B-B14F-4D97-AF65-F5344CB8AC3E}">
        <p14:creationId xmlns:p14="http://schemas.microsoft.com/office/powerpoint/2010/main" val="353319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0" i="0" cap="none"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83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3140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900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6953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0978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357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5832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8186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407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003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11/25/2024</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68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lIns="109728" tIns="109728" rIns="109728" bIns="91440" anchor="ct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lIns="109728" tIns="109728" rIns="109728" bIns="914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lIns="109728" tIns="109728" rIns="109728" bIns="91440" anchor="ctr"/>
          <a:lstStyle>
            <a:lvl1pPr algn="l">
              <a:defRPr sz="1200" b="0" i="0" cap="all" spc="100" baseline="0">
                <a:solidFill>
                  <a:schemeClr val="tx1">
                    <a:tint val="75000"/>
                  </a:schemeClr>
                </a:solidFill>
              </a:defRPr>
            </a:lvl1pPr>
          </a:lstStyle>
          <a:p>
            <a:fld id="{6A4B53A7-3209-46A6-9454-F38EAC8F11E7}" type="datetimeFigureOut">
              <a:rPr lang="en-US" smtClean="0"/>
              <a:pPr/>
              <a:t>11/25/2024</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lIns="109728" tIns="109728" rIns="109728" bIns="91440" anchor="ctr"/>
          <a:lstStyle>
            <a:lvl1pPr algn="ctr">
              <a:defRPr sz="1200" b="0" i="0" cap="none"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lIns="109728" tIns="109728" rIns="109728" bIns="9144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74351991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90000"/>
        </a:lnSpc>
        <a:spcBef>
          <a:spcPct val="0"/>
        </a:spcBef>
        <a:buNone/>
        <a:defRPr sz="4400" kern="1200" spc="16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spc="15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spc="15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15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15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15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hyperlink" Target="https://en.wikipedia.org/wiki/Probability_theory"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en.wikipedia.org/wiki/All_else_being_equal"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purple wavy lines&#10;&#10;Description automatically generated">
            <a:extLst>
              <a:ext uri="{FF2B5EF4-FFF2-40B4-BE49-F238E27FC236}">
                <a16:creationId xmlns:a16="http://schemas.microsoft.com/office/drawing/2014/main" id="{DAD429F2-4E0F-FFCF-5FE2-68F10DC0D9A5}"/>
              </a:ext>
            </a:extLst>
          </p:cNvPr>
          <p:cNvPicPr>
            <a:picLocks noChangeAspect="1"/>
          </p:cNvPicPr>
          <p:nvPr/>
        </p:nvPicPr>
        <p:blipFill rotWithShape="1">
          <a:blip r:embed="rId2">
            <a:alphaModFix/>
          </a:blip>
          <a:srcRect t="23987"/>
          <a:stretch/>
        </p:blipFill>
        <p:spPr>
          <a:xfrm>
            <a:off x="20" y="10"/>
            <a:ext cx="12191980" cy="6857990"/>
          </a:xfrm>
          <a:prstGeom prst="rect">
            <a:avLst/>
          </a:prstGeom>
        </p:spPr>
      </p:pic>
      <p:sp>
        <p:nvSpPr>
          <p:cNvPr id="33" name="Rectangle 32">
            <a:extLst>
              <a:ext uri="{FF2B5EF4-FFF2-40B4-BE49-F238E27FC236}">
                <a16:creationId xmlns:a16="http://schemas.microsoft.com/office/drawing/2014/main" id="{2D92A843-3FA1-4DFF-99F6-47FA457D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14761" cy="6858000"/>
          </a:xfrm>
          <a:prstGeom prst="rect">
            <a:avLst/>
          </a:prstGeom>
          <a:gradFill flip="none" rotWithShape="1">
            <a:gsLst>
              <a:gs pos="100000">
                <a:schemeClr val="accent4">
                  <a:alpha val="60000"/>
                </a:schemeClr>
              </a:gs>
              <a:gs pos="0">
                <a:schemeClr val="accent2">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198DA2-07D3-15AD-5E60-E098712C8579}"/>
              </a:ext>
            </a:extLst>
          </p:cNvPr>
          <p:cNvSpPr>
            <a:spLocks noGrp="1"/>
          </p:cNvSpPr>
          <p:nvPr>
            <p:ph type="ctrTitle"/>
          </p:nvPr>
        </p:nvSpPr>
        <p:spPr>
          <a:xfrm>
            <a:off x="793159" y="1377146"/>
            <a:ext cx="3672965" cy="3626217"/>
          </a:xfrm>
        </p:spPr>
        <p:txBody>
          <a:bodyPr anchor="b">
            <a:normAutofit/>
          </a:bodyPr>
          <a:lstStyle/>
          <a:p>
            <a:pPr algn="r"/>
            <a:r>
              <a:rPr lang="en-US" sz="5400" dirty="0">
                <a:solidFill>
                  <a:schemeClr val="bg1"/>
                </a:solidFill>
              </a:rPr>
              <a:t>Liver Cancer Detection</a:t>
            </a:r>
            <a:endParaRPr lang="en-AE" sz="5400" dirty="0">
              <a:solidFill>
                <a:schemeClr val="bg1"/>
              </a:solidFill>
            </a:endParaRPr>
          </a:p>
        </p:txBody>
      </p:sp>
      <p:sp>
        <p:nvSpPr>
          <p:cNvPr id="3" name="Subtitle 2">
            <a:extLst>
              <a:ext uri="{FF2B5EF4-FFF2-40B4-BE49-F238E27FC236}">
                <a16:creationId xmlns:a16="http://schemas.microsoft.com/office/drawing/2014/main" id="{96127A97-44A8-EEB1-E10F-6E266205D47A}"/>
              </a:ext>
            </a:extLst>
          </p:cNvPr>
          <p:cNvSpPr>
            <a:spLocks noGrp="1"/>
          </p:cNvSpPr>
          <p:nvPr>
            <p:ph type="subTitle" idx="1"/>
          </p:nvPr>
        </p:nvSpPr>
        <p:spPr>
          <a:xfrm>
            <a:off x="793159" y="5170453"/>
            <a:ext cx="3672963" cy="990197"/>
          </a:xfrm>
        </p:spPr>
        <p:txBody>
          <a:bodyPr>
            <a:normAutofit/>
          </a:bodyPr>
          <a:lstStyle/>
          <a:p>
            <a:pPr algn="r"/>
            <a:r>
              <a:rPr lang="en-US" dirty="0">
                <a:solidFill>
                  <a:schemeClr val="bg1"/>
                </a:solidFill>
              </a:rPr>
              <a:t>Explainable AI</a:t>
            </a:r>
            <a:endParaRPr lang="en-AE" dirty="0">
              <a:solidFill>
                <a:schemeClr val="bg1"/>
              </a:solidFill>
            </a:endParaRPr>
          </a:p>
        </p:txBody>
      </p:sp>
      <p:sp>
        <p:nvSpPr>
          <p:cNvPr id="35"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57736" y="815001"/>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37" name="Graphic 15">
            <a:extLst>
              <a:ext uri="{FF2B5EF4-FFF2-40B4-BE49-F238E27FC236}">
                <a16:creationId xmlns:a16="http://schemas.microsoft.com/office/drawing/2014/main" id="{8550FED7-7C32-42BB-98DB-30272A633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16516" y="104429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cxnSp>
        <p:nvCxnSpPr>
          <p:cNvPr id="39" name="Straight Connector 38">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274341"/>
            <a:ext cx="11353800"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769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F78EF5-DE9E-295D-01B8-5B1C84910501}"/>
              </a:ext>
            </a:extLst>
          </p:cNvPr>
          <p:cNvPicPr>
            <a:picLocks noChangeAspect="1"/>
          </p:cNvPicPr>
          <p:nvPr/>
        </p:nvPicPr>
        <p:blipFill>
          <a:blip r:embed="rId2"/>
          <a:stretch>
            <a:fillRect/>
          </a:stretch>
        </p:blipFill>
        <p:spPr>
          <a:xfrm>
            <a:off x="1914600" y="16625"/>
            <a:ext cx="8362800" cy="6841375"/>
          </a:xfrm>
          <a:prstGeom prst="rect">
            <a:avLst/>
          </a:prstGeom>
        </p:spPr>
      </p:pic>
    </p:spTree>
    <p:extLst>
      <p:ext uri="{BB962C8B-B14F-4D97-AF65-F5344CB8AC3E}">
        <p14:creationId xmlns:p14="http://schemas.microsoft.com/office/powerpoint/2010/main" val="372698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6281F-3ADD-30A6-BB05-F4591BC65A20}"/>
              </a:ext>
            </a:extLst>
          </p:cNvPr>
          <p:cNvSpPr>
            <a:spLocks noGrp="1"/>
          </p:cNvSpPr>
          <p:nvPr>
            <p:ph type="title"/>
          </p:nvPr>
        </p:nvSpPr>
        <p:spPr/>
        <p:txBody>
          <a:bodyPr/>
          <a:lstStyle/>
          <a:p>
            <a:r>
              <a:rPr lang="en-US" dirty="0"/>
              <a:t>Outline</a:t>
            </a:r>
            <a:endParaRPr lang="en-AE" dirty="0"/>
          </a:p>
        </p:txBody>
      </p:sp>
      <p:sp>
        <p:nvSpPr>
          <p:cNvPr id="3" name="Content Placeholder 2">
            <a:extLst>
              <a:ext uri="{FF2B5EF4-FFF2-40B4-BE49-F238E27FC236}">
                <a16:creationId xmlns:a16="http://schemas.microsoft.com/office/drawing/2014/main" id="{B72EEEE5-5CC9-CB75-D4B3-977F6E67C0BE}"/>
              </a:ext>
            </a:extLst>
          </p:cNvPr>
          <p:cNvSpPr>
            <a:spLocks noGrp="1"/>
          </p:cNvSpPr>
          <p:nvPr>
            <p:ph idx="1"/>
          </p:nvPr>
        </p:nvSpPr>
        <p:spPr>
          <a:xfrm>
            <a:off x="838200" y="1690688"/>
            <a:ext cx="10515600" cy="4478758"/>
          </a:xfrm>
        </p:spPr>
        <p:txBody>
          <a:bodyPr/>
          <a:lstStyle/>
          <a:p>
            <a:pPr lvl="1"/>
            <a:r>
              <a:rPr lang="en-US" dirty="0"/>
              <a:t>Paper Methodology</a:t>
            </a:r>
          </a:p>
          <a:p>
            <a:pPr lvl="2"/>
            <a:r>
              <a:rPr lang="en-US" sz="2000" dirty="0"/>
              <a:t>Overview</a:t>
            </a:r>
          </a:p>
          <a:p>
            <a:pPr lvl="2"/>
            <a:r>
              <a:rPr lang="en-US" sz="2000" dirty="0"/>
              <a:t>Models</a:t>
            </a:r>
          </a:p>
          <a:p>
            <a:pPr lvl="2"/>
            <a:r>
              <a:rPr lang="en-US" sz="2000" dirty="0"/>
              <a:t>Dataset</a:t>
            </a:r>
            <a:endParaRPr lang="en-US" dirty="0"/>
          </a:p>
          <a:p>
            <a:pPr lvl="1"/>
            <a:r>
              <a:rPr lang="en-US" dirty="0"/>
              <a:t>XAI Approach</a:t>
            </a:r>
          </a:p>
          <a:p>
            <a:pPr lvl="2"/>
            <a:r>
              <a:rPr lang="en-US" dirty="0"/>
              <a:t>Game Theory</a:t>
            </a:r>
          </a:p>
          <a:p>
            <a:pPr lvl="2"/>
            <a:r>
              <a:rPr lang="en-US" dirty="0"/>
              <a:t>Global Insights</a:t>
            </a:r>
          </a:p>
          <a:p>
            <a:pPr lvl="2"/>
            <a:r>
              <a:rPr lang="en-US" dirty="0"/>
              <a:t>Local Insights</a:t>
            </a:r>
          </a:p>
          <a:p>
            <a:pPr lvl="1"/>
            <a:r>
              <a:rPr lang="en-US" dirty="0"/>
              <a:t>XAI Model Validation</a:t>
            </a:r>
          </a:p>
          <a:p>
            <a:pPr lvl="2"/>
            <a:r>
              <a:rPr lang="en-US" dirty="0"/>
              <a:t>Probabilistic Causal Inference Framework</a:t>
            </a:r>
          </a:p>
          <a:p>
            <a:pPr lvl="2"/>
            <a:r>
              <a:rPr lang="en-US" dirty="0"/>
              <a:t>Traditional Survival Analysis</a:t>
            </a:r>
          </a:p>
        </p:txBody>
      </p:sp>
    </p:spTree>
    <p:extLst>
      <p:ext uri="{BB962C8B-B14F-4D97-AF65-F5344CB8AC3E}">
        <p14:creationId xmlns:p14="http://schemas.microsoft.com/office/powerpoint/2010/main" val="3811143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1E136-923C-B496-F25A-41296577AF35}"/>
              </a:ext>
            </a:extLst>
          </p:cNvPr>
          <p:cNvSpPr>
            <a:spLocks noGrp="1"/>
          </p:cNvSpPr>
          <p:nvPr>
            <p:ph type="title"/>
          </p:nvPr>
        </p:nvSpPr>
        <p:spPr/>
        <p:txBody>
          <a:bodyPr/>
          <a:lstStyle/>
          <a:p>
            <a:r>
              <a:rPr lang="en-US" dirty="0"/>
              <a:t>Methodology - Overview</a:t>
            </a:r>
            <a:br>
              <a:rPr lang="en-US" dirty="0"/>
            </a:br>
            <a:endParaRPr lang="en-AE" dirty="0"/>
          </a:p>
        </p:txBody>
      </p:sp>
      <p:pic>
        <p:nvPicPr>
          <p:cNvPr id="4" name="Content Placeholder 3">
            <a:extLst>
              <a:ext uri="{FF2B5EF4-FFF2-40B4-BE49-F238E27FC236}">
                <a16:creationId xmlns:a16="http://schemas.microsoft.com/office/drawing/2014/main" id="{AF793176-4831-CC03-C61C-6E8E70B4F134}"/>
              </a:ext>
            </a:extLst>
          </p:cNvPr>
          <p:cNvPicPr>
            <a:picLocks noGrp="1" noChangeAspect="1"/>
          </p:cNvPicPr>
          <p:nvPr>
            <p:ph idx="1"/>
          </p:nvPr>
        </p:nvPicPr>
        <p:blipFill>
          <a:blip r:embed="rId2"/>
          <a:stretch>
            <a:fillRect/>
          </a:stretch>
        </p:blipFill>
        <p:spPr>
          <a:xfrm>
            <a:off x="1877501" y="1222410"/>
            <a:ext cx="8436998" cy="5468558"/>
          </a:xfrm>
          <a:prstGeom prst="rect">
            <a:avLst/>
          </a:prstGeom>
        </p:spPr>
      </p:pic>
    </p:spTree>
    <p:extLst>
      <p:ext uri="{BB962C8B-B14F-4D97-AF65-F5344CB8AC3E}">
        <p14:creationId xmlns:p14="http://schemas.microsoft.com/office/powerpoint/2010/main" val="2223055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AB3665-97DB-659C-57CF-475C86D14FF3}"/>
              </a:ext>
            </a:extLst>
          </p:cNvPr>
          <p:cNvSpPr>
            <a:spLocks noGrp="1"/>
          </p:cNvSpPr>
          <p:nvPr>
            <p:ph type="title"/>
          </p:nvPr>
        </p:nvSpPr>
        <p:spPr>
          <a:xfrm>
            <a:off x="6657715" y="467271"/>
            <a:ext cx="4195674" cy="2052522"/>
          </a:xfrm>
        </p:spPr>
        <p:txBody>
          <a:bodyPr anchor="b">
            <a:normAutofit/>
          </a:bodyPr>
          <a:lstStyle/>
          <a:p>
            <a:r>
              <a:rPr lang="en-US"/>
              <a:t>Methodology - Models</a:t>
            </a:r>
            <a:endParaRPr lang="en-AE"/>
          </a:p>
        </p:txBody>
      </p:sp>
      <p:sp>
        <p:nvSpPr>
          <p:cNvPr id="21" name="Oval 20">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pic>
        <p:nvPicPr>
          <p:cNvPr id="7" name="Graphic 6" descr="Deciduous tree">
            <a:extLst>
              <a:ext uri="{FF2B5EF4-FFF2-40B4-BE49-F238E27FC236}">
                <a16:creationId xmlns:a16="http://schemas.microsoft.com/office/drawing/2014/main" id="{58A13E6D-7F4C-3158-85D6-78D0AA4089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7770" y="1448957"/>
            <a:ext cx="3952579" cy="3952579"/>
          </a:xfrm>
          <a:prstGeom prst="rect">
            <a:avLst/>
          </a:prstGeom>
        </p:spPr>
      </p:pic>
      <p:sp>
        <p:nvSpPr>
          <p:cNvPr id="3" name="Content Placeholder 2">
            <a:extLst>
              <a:ext uri="{FF2B5EF4-FFF2-40B4-BE49-F238E27FC236}">
                <a16:creationId xmlns:a16="http://schemas.microsoft.com/office/drawing/2014/main" id="{72C06CC1-FB78-22AE-6531-1AED2BA3B7B2}"/>
              </a:ext>
            </a:extLst>
          </p:cNvPr>
          <p:cNvSpPr>
            <a:spLocks noGrp="1"/>
          </p:cNvSpPr>
          <p:nvPr>
            <p:ph idx="1"/>
          </p:nvPr>
        </p:nvSpPr>
        <p:spPr>
          <a:xfrm>
            <a:off x="6695359" y="2990818"/>
            <a:ext cx="4158031" cy="2913872"/>
          </a:xfrm>
        </p:spPr>
        <p:txBody>
          <a:bodyPr anchor="t">
            <a:normAutofit/>
          </a:bodyPr>
          <a:lstStyle/>
          <a:p>
            <a:pPr marL="0" indent="0">
              <a:buNone/>
            </a:pPr>
            <a:r>
              <a:rPr lang="en-US" sz="2000" dirty="0"/>
              <a:t>Inherently interpretable tree-based ensembled AI algorithms:</a:t>
            </a:r>
          </a:p>
          <a:p>
            <a:r>
              <a:rPr lang="en-US" sz="2000" dirty="0" err="1"/>
              <a:t>XGBoost</a:t>
            </a:r>
            <a:endParaRPr lang="en-US" sz="2000" dirty="0"/>
          </a:p>
          <a:p>
            <a:r>
              <a:rPr lang="en-US" sz="2000" dirty="0"/>
              <a:t>Extra Trees</a:t>
            </a:r>
          </a:p>
          <a:p>
            <a:r>
              <a:rPr lang="en-US" sz="2000" dirty="0"/>
              <a:t>Random Forest</a:t>
            </a:r>
          </a:p>
        </p:txBody>
      </p:sp>
      <p:sp>
        <p:nvSpPr>
          <p:cNvPr id="27"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29" name="Straight Connector 2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512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152913-AA03-EF49-380B-A17B852F23BE}"/>
              </a:ext>
            </a:extLst>
          </p:cNvPr>
          <p:cNvPicPr>
            <a:picLocks noChangeAspect="1"/>
          </p:cNvPicPr>
          <p:nvPr/>
        </p:nvPicPr>
        <p:blipFill>
          <a:blip r:embed="rId2"/>
          <a:stretch>
            <a:fillRect/>
          </a:stretch>
        </p:blipFill>
        <p:spPr>
          <a:xfrm>
            <a:off x="1140987" y="282189"/>
            <a:ext cx="9910026" cy="6293622"/>
          </a:xfrm>
          <a:prstGeom prst="rect">
            <a:avLst/>
          </a:prstGeom>
        </p:spPr>
      </p:pic>
      <p:sp>
        <p:nvSpPr>
          <p:cNvPr id="5" name="TextBox 4">
            <a:extLst>
              <a:ext uri="{FF2B5EF4-FFF2-40B4-BE49-F238E27FC236}">
                <a16:creationId xmlns:a16="http://schemas.microsoft.com/office/drawing/2014/main" id="{91D2B1B4-DB4F-FC05-98F9-8AD604619FD1}"/>
              </a:ext>
            </a:extLst>
          </p:cNvPr>
          <p:cNvSpPr txBox="1"/>
          <p:nvPr/>
        </p:nvSpPr>
        <p:spPr>
          <a:xfrm>
            <a:off x="1140987" y="296309"/>
            <a:ext cx="3307815"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b="0" i="0" dirty="0" err="1">
                <a:solidFill>
                  <a:srgbClr val="1F1F1F"/>
                </a:solidFill>
                <a:effectLst/>
                <a:latin typeface="ElsevierGulliver"/>
              </a:rPr>
              <a:t>XGBoost</a:t>
            </a:r>
            <a:r>
              <a:rPr lang="en-US" sz="1200" dirty="0">
                <a:solidFill>
                  <a:srgbClr val="1F1F1F"/>
                </a:solidFill>
                <a:latin typeface="ElsevierGulliver"/>
              </a:rPr>
              <a:t>: </a:t>
            </a:r>
            <a:r>
              <a:rPr lang="en-US" sz="1200" b="0" i="0" dirty="0">
                <a:solidFill>
                  <a:srgbClr val="1F1F1F"/>
                </a:solidFill>
                <a:effectLst/>
                <a:latin typeface="ElsevierGulliver"/>
              </a:rPr>
              <a:t>90.6 % accuracy, precision at 100 %, a recall of 77.78 %, an F1 score of 87.5 %, and ROC_AUC of 0.89 %. </a:t>
            </a:r>
            <a:endParaRPr lang="en-US" sz="1200" dirty="0"/>
          </a:p>
        </p:txBody>
      </p:sp>
      <p:sp>
        <p:nvSpPr>
          <p:cNvPr id="7" name="TextBox 6">
            <a:extLst>
              <a:ext uri="{FF2B5EF4-FFF2-40B4-BE49-F238E27FC236}">
                <a16:creationId xmlns:a16="http://schemas.microsoft.com/office/drawing/2014/main" id="{A1247192-395C-B87A-D9B5-BA47FA3878BD}"/>
              </a:ext>
            </a:extLst>
          </p:cNvPr>
          <p:cNvSpPr txBox="1"/>
          <p:nvPr/>
        </p:nvSpPr>
        <p:spPr>
          <a:xfrm>
            <a:off x="8414132" y="141591"/>
            <a:ext cx="3307815"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b="0" i="0" dirty="0">
                <a:solidFill>
                  <a:srgbClr val="1F1F1F"/>
                </a:solidFill>
                <a:effectLst/>
                <a:latin typeface="ElsevierGulliver"/>
              </a:rPr>
              <a:t>ETC:</a:t>
            </a:r>
            <a:br>
              <a:rPr lang="en-US" sz="1200" b="0" i="0" dirty="0">
                <a:solidFill>
                  <a:srgbClr val="1F1F1F"/>
                </a:solidFill>
                <a:effectLst/>
                <a:latin typeface="ElsevierGulliver"/>
              </a:rPr>
            </a:br>
            <a:r>
              <a:rPr lang="en-US" sz="1200" b="0" i="0" dirty="0">
                <a:solidFill>
                  <a:srgbClr val="1F1F1F"/>
                </a:solidFill>
                <a:effectLst/>
                <a:latin typeface="ElsevierGulliver"/>
              </a:rPr>
              <a:t>95.3 % accuracy, 92.1 % precision, 97.2 % recall, an F1 score of 94.6 %, and ROC_AUC of 0.96 %. </a:t>
            </a:r>
            <a:br>
              <a:rPr lang="en-US" sz="1200" b="0" i="0" dirty="0">
                <a:solidFill>
                  <a:srgbClr val="1F1F1F"/>
                </a:solidFill>
                <a:effectLst/>
                <a:latin typeface="ElsevierGulliver"/>
              </a:rPr>
            </a:br>
            <a:r>
              <a:rPr lang="en-US" sz="1200" b="0" i="0" dirty="0">
                <a:solidFill>
                  <a:srgbClr val="1F1F1F"/>
                </a:solidFill>
                <a:effectLst/>
                <a:latin typeface="ElsevierGulliver"/>
              </a:rPr>
              <a:t>RFC:</a:t>
            </a:r>
            <a:br>
              <a:rPr lang="en-US" sz="1200" b="0" i="0" dirty="0">
                <a:solidFill>
                  <a:srgbClr val="1F1F1F"/>
                </a:solidFill>
                <a:effectLst/>
                <a:latin typeface="ElsevierGulliver"/>
              </a:rPr>
            </a:br>
            <a:r>
              <a:rPr lang="en-US" sz="1200" b="0" i="0" dirty="0">
                <a:solidFill>
                  <a:srgbClr val="1F1F1F"/>
                </a:solidFill>
                <a:effectLst/>
                <a:latin typeface="ElsevierGulliver"/>
              </a:rPr>
              <a:t>95.3 % accuracy, 97.1 % precision, 91.7 % recall, an F1 score of 94.3 %, and ROC_AUC of 0.95 %</a:t>
            </a:r>
            <a:endParaRPr lang="en-US" sz="1200" dirty="0"/>
          </a:p>
        </p:txBody>
      </p:sp>
    </p:spTree>
    <p:extLst>
      <p:ext uri="{BB962C8B-B14F-4D97-AF65-F5344CB8AC3E}">
        <p14:creationId xmlns:p14="http://schemas.microsoft.com/office/powerpoint/2010/main" val="1586510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947E-70EF-0619-4A70-6BA416E3E6F5}"/>
              </a:ext>
            </a:extLst>
          </p:cNvPr>
          <p:cNvSpPr>
            <a:spLocks noGrp="1"/>
          </p:cNvSpPr>
          <p:nvPr>
            <p:ph type="title"/>
          </p:nvPr>
        </p:nvSpPr>
        <p:spPr/>
        <p:txBody>
          <a:bodyPr/>
          <a:lstStyle/>
          <a:p>
            <a:r>
              <a:rPr lang="en-US"/>
              <a:t>Methodology - Dataset</a:t>
            </a:r>
            <a:endParaRPr lang="en-AE" dirty="0"/>
          </a:p>
        </p:txBody>
      </p:sp>
      <p:sp>
        <p:nvSpPr>
          <p:cNvPr id="3" name="Content Placeholder 2">
            <a:extLst>
              <a:ext uri="{FF2B5EF4-FFF2-40B4-BE49-F238E27FC236}">
                <a16:creationId xmlns:a16="http://schemas.microsoft.com/office/drawing/2014/main" id="{4E4C36A6-3F47-AFFD-C4E1-5025A92F9B64}"/>
              </a:ext>
            </a:extLst>
          </p:cNvPr>
          <p:cNvSpPr>
            <a:spLocks noGrp="1"/>
          </p:cNvSpPr>
          <p:nvPr>
            <p:ph idx="1"/>
          </p:nvPr>
        </p:nvSpPr>
        <p:spPr/>
        <p:txBody>
          <a:bodyPr/>
          <a:lstStyle/>
          <a:p>
            <a:pPr algn="just"/>
            <a:r>
              <a:rPr lang="en-US" sz="2000" dirty="0"/>
              <a:t>HCCDB: A Database of Hepatocellular Carcinoma Expression Atlas (Lian et al., 2018)</a:t>
            </a:r>
          </a:p>
          <a:p>
            <a:pPr algn="just"/>
            <a:r>
              <a:rPr lang="en-US" sz="2000" dirty="0"/>
              <a:t>Contains 22 normal liver tissue samples and 231 total samples featuring 12,571 genes</a:t>
            </a:r>
          </a:p>
          <a:p>
            <a:pPr algn="just"/>
            <a:r>
              <a:rPr lang="en-US" sz="2000" dirty="0"/>
              <a:t>The database has curated RNA-Seq and microarray-based data from multiple sources, including TCGA and GEO.</a:t>
            </a:r>
          </a:p>
          <a:p>
            <a:pPr algn="just"/>
            <a:r>
              <a:rPr lang="en-US" sz="2000" dirty="0"/>
              <a:t>The models were trained and validated on randomly oversampled data to account for sample imbalance, with </a:t>
            </a:r>
            <a:r>
              <a:rPr lang="en-US" sz="2000" dirty="0" err="1"/>
              <a:t>XGBoost</a:t>
            </a:r>
            <a:r>
              <a:rPr lang="en-US" sz="2000" dirty="0"/>
              <a:t> requiring just 0.03 min and RFC and ETC each taking 0.01 min</a:t>
            </a:r>
          </a:p>
          <a:p>
            <a:pPr algn="just"/>
            <a:r>
              <a:rPr lang="en-US" sz="2000" dirty="0"/>
              <a:t>train-test (75 %-25 %) split cross-validation.</a:t>
            </a:r>
            <a:endParaRPr lang="en-AE" sz="2000" dirty="0"/>
          </a:p>
        </p:txBody>
      </p:sp>
    </p:spTree>
    <p:extLst>
      <p:ext uri="{BB962C8B-B14F-4D97-AF65-F5344CB8AC3E}">
        <p14:creationId xmlns:p14="http://schemas.microsoft.com/office/powerpoint/2010/main" val="1909464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72D2CB-8228-BC4D-88E4-57305669F5C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FEF9022-5185-CF4E-51DF-768CDC48B457}"/>
              </a:ext>
            </a:extLst>
          </p:cNvPr>
          <p:cNvSpPr>
            <a:spLocks noGrp="1"/>
          </p:cNvSpPr>
          <p:nvPr>
            <p:ph type="title"/>
          </p:nvPr>
        </p:nvSpPr>
        <p:spPr>
          <a:xfrm>
            <a:off x="479394" y="1070800"/>
            <a:ext cx="3939688" cy="5583126"/>
          </a:xfrm>
        </p:spPr>
        <p:txBody>
          <a:bodyPr>
            <a:normAutofit/>
          </a:bodyPr>
          <a:lstStyle/>
          <a:p>
            <a:pPr algn="r"/>
            <a:r>
              <a:rPr lang="en-US" sz="4000"/>
              <a:t>Methodology – XAI Approach</a:t>
            </a:r>
            <a:endParaRPr lang="en-AE" sz="4000"/>
          </a:p>
        </p:txBody>
      </p:sp>
      <p:cxnSp>
        <p:nvCxnSpPr>
          <p:cNvPr id="11" name="Straight Connector 10">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77C40E5A-C8E3-E91A-817C-CC8DC6F2B47F}"/>
              </a:ext>
            </a:extLst>
          </p:cNvPr>
          <p:cNvGraphicFramePr>
            <a:graphicFrameLocks noGrp="1"/>
          </p:cNvGraphicFramePr>
          <p:nvPr>
            <p:ph idx="1"/>
            <p:extLst>
              <p:ext uri="{D42A27DB-BD31-4B8C-83A1-F6EECF244321}">
                <p14:modId xmlns:p14="http://schemas.microsoft.com/office/powerpoint/2010/main" val="345159125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16475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2E911C3-39E8-FC42-16F9-A4C108082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78" y="100897"/>
            <a:ext cx="9998593" cy="665620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C4B020C-61A8-8989-923C-FA05BDA33BC4}"/>
              </a:ext>
            </a:extLst>
          </p:cNvPr>
          <p:cNvSpPr txBox="1"/>
          <p:nvPr/>
        </p:nvSpPr>
        <p:spPr>
          <a:xfrm>
            <a:off x="5838824" y="115661"/>
            <a:ext cx="6096001" cy="7386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b="1" dirty="0"/>
              <a:t>Players:</a:t>
            </a:r>
            <a:r>
              <a:rPr lang="en-US" sz="1400" dirty="0"/>
              <a:t> These are the individuals or entities cooperating in the game. In machine learning, they correspond to features (e.g., gene expressions) in a predictive model.</a:t>
            </a:r>
          </a:p>
        </p:txBody>
      </p:sp>
      <p:sp>
        <p:nvSpPr>
          <p:cNvPr id="9" name="TextBox 8">
            <a:extLst>
              <a:ext uri="{FF2B5EF4-FFF2-40B4-BE49-F238E27FC236}">
                <a16:creationId xmlns:a16="http://schemas.microsoft.com/office/drawing/2014/main" id="{892F6158-AA32-CA30-031C-DD130534396D}"/>
              </a:ext>
            </a:extLst>
          </p:cNvPr>
          <p:cNvSpPr txBox="1"/>
          <p:nvPr/>
        </p:nvSpPr>
        <p:spPr>
          <a:xfrm>
            <a:off x="7096125" y="5667672"/>
            <a:ext cx="4838700" cy="73866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400" dirty="0"/>
              <a:t>Payout: The total gain or utility achieved by a coalition. In machine learning, this could represent the model's performance (e.g., accuracy) or prediction.</a:t>
            </a:r>
            <a:endParaRPr lang="en-AE" sz="1400" dirty="0"/>
          </a:p>
        </p:txBody>
      </p:sp>
    </p:spTree>
    <p:extLst>
      <p:ext uri="{BB962C8B-B14F-4D97-AF65-F5344CB8AC3E}">
        <p14:creationId xmlns:p14="http://schemas.microsoft.com/office/powerpoint/2010/main" val="365839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33ABEB-E2A1-DCC9-033D-6AD4C8D7E946}"/>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0B2D58D-98E1-E27B-ECB8-448FDCE933A4}"/>
              </a:ext>
            </a:extLst>
          </p:cNvPr>
          <p:cNvSpPr>
            <a:spLocks noGrp="1"/>
          </p:cNvSpPr>
          <p:nvPr>
            <p:ph type="title"/>
          </p:nvPr>
        </p:nvSpPr>
        <p:spPr>
          <a:xfrm>
            <a:off x="3506755" y="365125"/>
            <a:ext cx="7161245" cy="1325563"/>
          </a:xfrm>
        </p:spPr>
        <p:txBody>
          <a:bodyPr vert="horz" lIns="91440" tIns="45720" rIns="91440" bIns="45720" rtlCol="0" anchor="ctr">
            <a:normAutofit/>
          </a:bodyPr>
          <a:lstStyle/>
          <a:p>
            <a:r>
              <a:rPr lang="en-US" sz="3600" kern="1200">
                <a:solidFill>
                  <a:schemeClr val="bg1"/>
                </a:solidFill>
                <a:latin typeface="+mj-lt"/>
                <a:ea typeface="+mj-ea"/>
                <a:cs typeface="+mj-cs"/>
              </a:rPr>
              <a:t>Methodology – XAI Approach</a:t>
            </a:r>
          </a:p>
        </p:txBody>
      </p:sp>
      <p:sp>
        <p:nvSpPr>
          <p:cNvPr id="19"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21"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cxnSp>
        <p:nvCxnSpPr>
          <p:cNvPr id="23" name="Straight Connector 22">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027906"/>
            <a:ext cx="3408787"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25"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graphicFrame>
        <p:nvGraphicFramePr>
          <p:cNvPr id="13" name="TextBox 10">
            <a:extLst>
              <a:ext uri="{FF2B5EF4-FFF2-40B4-BE49-F238E27FC236}">
                <a16:creationId xmlns:a16="http://schemas.microsoft.com/office/drawing/2014/main" id="{8C731411-3A2A-0700-8614-4765FE28C99D}"/>
              </a:ext>
            </a:extLst>
          </p:cNvPr>
          <p:cNvGraphicFramePr/>
          <p:nvPr>
            <p:extLst>
              <p:ext uri="{D42A27DB-BD31-4B8C-83A1-F6EECF244321}">
                <p14:modId xmlns:p14="http://schemas.microsoft.com/office/powerpoint/2010/main" val="12794455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5675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ECA01C-6142-3413-A480-B90FE9837F8F}"/>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43DE72CB-9C71-ADD2-A82C-F48E1F72699F}"/>
              </a:ext>
            </a:extLst>
          </p:cNvPr>
          <p:cNvSpPr>
            <a:spLocks noGrp="1"/>
          </p:cNvSpPr>
          <p:nvPr>
            <p:ph type="title"/>
          </p:nvPr>
        </p:nvSpPr>
        <p:spPr>
          <a:xfrm>
            <a:off x="838200" y="365125"/>
            <a:ext cx="9804918" cy="1325563"/>
          </a:xfrm>
        </p:spPr>
        <p:txBody>
          <a:bodyPr vert="horz" lIns="91440" tIns="45720" rIns="91440" bIns="45720" rtlCol="0" anchor="ctr">
            <a:normAutofit/>
          </a:bodyPr>
          <a:lstStyle/>
          <a:p>
            <a:r>
              <a:rPr lang="en-US" kern="1200" dirty="0">
                <a:solidFill>
                  <a:schemeClr val="bg1"/>
                </a:solidFill>
                <a:latin typeface="+mj-lt"/>
                <a:ea typeface="+mj-ea"/>
                <a:cs typeface="+mj-cs"/>
              </a:rPr>
              <a:t>Methodology – XAI Approach</a:t>
            </a:r>
          </a:p>
        </p:txBody>
      </p:sp>
      <p:cxnSp>
        <p:nvCxnSpPr>
          <p:cNvPr id="21" name="Straight Connector 20">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22"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23"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4"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graphicFrame>
        <p:nvGraphicFramePr>
          <p:cNvPr id="25" name="TextBox 3">
            <a:extLst>
              <a:ext uri="{FF2B5EF4-FFF2-40B4-BE49-F238E27FC236}">
                <a16:creationId xmlns:a16="http://schemas.microsoft.com/office/drawing/2014/main" id="{6C85117A-FCE0-B810-A6AD-E4AC68388E2A}"/>
              </a:ext>
            </a:extLst>
          </p:cNvPr>
          <p:cNvGraphicFramePr/>
          <p:nvPr>
            <p:extLst>
              <p:ext uri="{D42A27DB-BD31-4B8C-83A1-F6EECF244321}">
                <p14:modId xmlns:p14="http://schemas.microsoft.com/office/powerpoint/2010/main" val="239806364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F7B37728-E37C-918E-5FB8-F57BEE86CDFB}"/>
              </a:ext>
            </a:extLst>
          </p:cNvPr>
          <p:cNvSpPr txBox="1"/>
          <p:nvPr/>
        </p:nvSpPr>
        <p:spPr>
          <a:xfrm>
            <a:off x="715890" y="1085433"/>
            <a:ext cx="6801875" cy="67272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56199" tIns="330200" rIns="256199" bIns="330200" numCol="1" spcCol="1270" anchor="t" anchorCtr="0">
            <a:noAutofit/>
          </a:bodyPr>
          <a:lstStyle/>
          <a:p>
            <a:pPr marL="0" lvl="0" indent="0" algn="l" defTabSz="844550">
              <a:lnSpc>
                <a:spcPct val="90000"/>
              </a:lnSpc>
              <a:spcBef>
                <a:spcPct val="0"/>
              </a:spcBef>
              <a:spcAft>
                <a:spcPct val="35000"/>
              </a:spcAft>
              <a:buNone/>
            </a:pPr>
            <a:r>
              <a:rPr lang="en-US" sz="1900" u="sng" kern="1200" dirty="0">
                <a:solidFill>
                  <a:schemeClr val="bg1"/>
                </a:solidFill>
              </a:rPr>
              <a:t>SHAP calculates feature contributions by:</a:t>
            </a:r>
          </a:p>
        </p:txBody>
      </p:sp>
    </p:spTree>
    <p:extLst>
      <p:ext uri="{BB962C8B-B14F-4D97-AF65-F5344CB8AC3E}">
        <p14:creationId xmlns:p14="http://schemas.microsoft.com/office/powerpoint/2010/main" val="2347081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A18E91-F0BB-85F1-7706-088328E080F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4F7934D-21E2-4F33-0DDF-B514EE2B4231}"/>
              </a:ext>
            </a:extLst>
          </p:cNvPr>
          <p:cNvSpPr>
            <a:spLocks noGrp="1"/>
          </p:cNvSpPr>
          <p:nvPr>
            <p:ph type="title"/>
          </p:nvPr>
        </p:nvSpPr>
        <p:spPr>
          <a:xfrm>
            <a:off x="3506755" y="365125"/>
            <a:ext cx="7161245" cy="1325563"/>
          </a:xfrm>
        </p:spPr>
        <p:txBody>
          <a:bodyPr>
            <a:normAutofit/>
          </a:bodyPr>
          <a:lstStyle/>
          <a:p>
            <a:r>
              <a:rPr lang="en-US" sz="3600">
                <a:solidFill>
                  <a:schemeClr val="bg1"/>
                </a:solidFill>
              </a:rPr>
              <a:t>Methodology – XAI Approach</a:t>
            </a:r>
            <a:endParaRPr lang="en-AE" sz="3600">
              <a:solidFill>
                <a:schemeClr val="bg1"/>
              </a:solidFill>
            </a:endParaRPr>
          </a:p>
        </p:txBody>
      </p:sp>
      <p:sp>
        <p:nvSpPr>
          <p:cNvPr id="11"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3"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cxnSp>
        <p:nvCxnSpPr>
          <p:cNvPr id="15" name="Straight Connector 14">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027906"/>
            <a:ext cx="3408787"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7"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83A1DDF4-3312-7B5B-7074-F5D9A35FA254}"/>
              </a:ext>
            </a:extLst>
          </p:cNvPr>
          <p:cNvGraphicFramePr>
            <a:graphicFrameLocks noGrp="1"/>
          </p:cNvGraphicFramePr>
          <p:nvPr>
            <p:ph idx="1"/>
            <p:extLst>
              <p:ext uri="{D42A27DB-BD31-4B8C-83A1-F6EECF244321}">
                <p14:modId xmlns:p14="http://schemas.microsoft.com/office/powerpoint/2010/main" val="124646012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09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3FAC4-8367-314D-2E08-C9BEF3B10C0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4EDDE8-CC93-DAF1-C1CF-BFA9C052F3A3}"/>
              </a:ext>
            </a:extLst>
          </p:cNvPr>
          <p:cNvPicPr>
            <a:picLocks noChangeAspect="1"/>
          </p:cNvPicPr>
          <p:nvPr/>
        </p:nvPicPr>
        <p:blipFill>
          <a:blip r:embed="rId2"/>
          <a:stretch>
            <a:fillRect/>
          </a:stretch>
        </p:blipFill>
        <p:spPr>
          <a:xfrm>
            <a:off x="0" y="696565"/>
            <a:ext cx="12192000" cy="5676652"/>
          </a:xfrm>
          <a:prstGeom prst="rect">
            <a:avLst/>
          </a:prstGeom>
        </p:spPr>
      </p:pic>
      <p:sp>
        <p:nvSpPr>
          <p:cNvPr id="4" name="TextBox 3">
            <a:extLst>
              <a:ext uri="{FF2B5EF4-FFF2-40B4-BE49-F238E27FC236}">
                <a16:creationId xmlns:a16="http://schemas.microsoft.com/office/drawing/2014/main" id="{DA73C173-4F2D-B9E6-028A-0CA72815F8D9}"/>
              </a:ext>
            </a:extLst>
          </p:cNvPr>
          <p:cNvSpPr txBox="1"/>
          <p:nvPr/>
        </p:nvSpPr>
        <p:spPr>
          <a:xfrm>
            <a:off x="8812852" y="327233"/>
            <a:ext cx="2963253"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Random Forest Classifier</a:t>
            </a:r>
            <a:endParaRPr lang="en-AE" dirty="0"/>
          </a:p>
        </p:txBody>
      </p:sp>
      <p:sp>
        <p:nvSpPr>
          <p:cNvPr id="8" name="TextBox 7">
            <a:extLst>
              <a:ext uri="{FF2B5EF4-FFF2-40B4-BE49-F238E27FC236}">
                <a16:creationId xmlns:a16="http://schemas.microsoft.com/office/drawing/2014/main" id="{B3477025-3F48-82D4-96D0-8F69C46B66AB}"/>
              </a:ext>
            </a:extLst>
          </p:cNvPr>
          <p:cNvSpPr txBox="1"/>
          <p:nvPr/>
        </p:nvSpPr>
        <p:spPr>
          <a:xfrm>
            <a:off x="1242699" y="327233"/>
            <a:ext cx="2261077"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err="1"/>
              <a:t>XGBoost</a:t>
            </a:r>
            <a:r>
              <a:rPr lang="en-US" dirty="0"/>
              <a:t> Classifier</a:t>
            </a:r>
            <a:endParaRPr lang="en-AE" dirty="0"/>
          </a:p>
        </p:txBody>
      </p:sp>
      <p:sp>
        <p:nvSpPr>
          <p:cNvPr id="10" name="TextBox 9">
            <a:extLst>
              <a:ext uri="{FF2B5EF4-FFF2-40B4-BE49-F238E27FC236}">
                <a16:creationId xmlns:a16="http://schemas.microsoft.com/office/drawing/2014/main" id="{A61E1AF2-71FF-CABF-B9D8-CD09B5DCA2F2}"/>
              </a:ext>
            </a:extLst>
          </p:cNvPr>
          <p:cNvSpPr txBox="1"/>
          <p:nvPr/>
        </p:nvSpPr>
        <p:spPr>
          <a:xfrm>
            <a:off x="5066235" y="327233"/>
            <a:ext cx="2493234"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Extra Trees Classifier</a:t>
            </a:r>
            <a:endParaRPr lang="en-AE" dirty="0"/>
          </a:p>
        </p:txBody>
      </p:sp>
    </p:spTree>
    <p:extLst>
      <p:ext uri="{BB962C8B-B14F-4D97-AF65-F5344CB8AC3E}">
        <p14:creationId xmlns:p14="http://schemas.microsoft.com/office/powerpoint/2010/main" val="51707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52572-D8FF-009E-0CB4-D55E4F1D88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719003-E966-09D1-7EB8-B9709BBC0C85}"/>
              </a:ext>
            </a:extLst>
          </p:cNvPr>
          <p:cNvPicPr>
            <a:picLocks noChangeAspect="1"/>
          </p:cNvPicPr>
          <p:nvPr/>
        </p:nvPicPr>
        <p:blipFill>
          <a:blip r:embed="rId2"/>
          <a:srcRect b="37443"/>
          <a:stretch/>
        </p:blipFill>
        <p:spPr>
          <a:xfrm>
            <a:off x="1012269" y="1046602"/>
            <a:ext cx="10892961" cy="3172798"/>
          </a:xfrm>
          <a:prstGeom prst="rect">
            <a:avLst/>
          </a:prstGeom>
        </p:spPr>
      </p:pic>
      <p:sp>
        <p:nvSpPr>
          <p:cNvPr id="5" name="TextBox 4">
            <a:extLst>
              <a:ext uri="{FF2B5EF4-FFF2-40B4-BE49-F238E27FC236}">
                <a16:creationId xmlns:a16="http://schemas.microsoft.com/office/drawing/2014/main" id="{7A409F7F-66B1-33D8-F59B-9B776F00C103}"/>
              </a:ext>
            </a:extLst>
          </p:cNvPr>
          <p:cNvSpPr txBox="1"/>
          <p:nvPr/>
        </p:nvSpPr>
        <p:spPr>
          <a:xfrm>
            <a:off x="738129" y="4366399"/>
            <a:ext cx="11453871" cy="2246769"/>
          </a:xfrm>
          <a:prstGeom prst="rect">
            <a:avLst/>
          </a:prstGeom>
          <a:noFill/>
        </p:spPr>
        <p:txBody>
          <a:bodyPr wrap="square">
            <a:spAutoFit/>
          </a:bodyPr>
          <a:lstStyle/>
          <a:p>
            <a:pPr marL="742950" lvl="1" indent="-285750">
              <a:buFont typeface="Arial" panose="020B0604020202020204" pitchFamily="34" charset="0"/>
              <a:buChar char="•"/>
            </a:pPr>
            <a:r>
              <a:rPr lang="en-US" sz="1400" b="1" dirty="0"/>
              <a:t>Horizontal axis:</a:t>
            </a:r>
            <a:r>
              <a:rPr lang="en-US" sz="1400" dirty="0"/>
              <a:t> SHAP values indicate the impact of gene expression on the model's prediction.</a:t>
            </a:r>
          </a:p>
          <a:p>
            <a:pPr marL="742950" lvl="1" indent="-285750">
              <a:buFont typeface="Arial" panose="020B0604020202020204" pitchFamily="34" charset="0"/>
              <a:buChar char="•"/>
            </a:pPr>
            <a:r>
              <a:rPr lang="en-US" sz="1400" b="1" dirty="0"/>
              <a:t>Positive SHAP values </a:t>
            </a:r>
            <a:r>
              <a:rPr lang="en-US" sz="1400" dirty="0"/>
              <a:t>(right side of the axis) indicate that higher gene expression contributes to a </a:t>
            </a:r>
            <a:r>
              <a:rPr lang="en-US" sz="1400" b="1" dirty="0"/>
              <a:t>higher risk of mortality within five years</a:t>
            </a:r>
            <a:r>
              <a:rPr lang="en-US" sz="1400" dirty="0"/>
              <a:t>.</a:t>
            </a:r>
          </a:p>
          <a:p>
            <a:pPr marL="742950" lvl="1" indent="-285750">
              <a:buFont typeface="Arial" panose="020B0604020202020204" pitchFamily="34" charset="0"/>
              <a:buChar char="•"/>
            </a:pPr>
            <a:r>
              <a:rPr lang="en-US" sz="1400" b="1" dirty="0"/>
              <a:t>Negative SHAP values </a:t>
            </a:r>
            <a:r>
              <a:rPr lang="en-US" sz="1400" dirty="0"/>
              <a:t>(left side) suggest that higher expression of the gene </a:t>
            </a:r>
            <a:r>
              <a:rPr lang="en-US" sz="1400" b="1" dirty="0"/>
              <a:t>increases survival likelihood within five years.</a:t>
            </a:r>
          </a:p>
          <a:p>
            <a:pPr marL="742950" lvl="1" indent="-285750">
              <a:buFont typeface="Arial" panose="020B0604020202020204" pitchFamily="34" charset="0"/>
              <a:buChar char="•"/>
            </a:pPr>
            <a:r>
              <a:rPr lang="en-US" sz="1400" dirty="0"/>
              <a:t>Red</a:t>
            </a:r>
            <a:r>
              <a:rPr lang="en-US" sz="1400" b="1" dirty="0"/>
              <a:t> </a:t>
            </a:r>
            <a:r>
              <a:rPr lang="en-US" sz="1400" dirty="0"/>
              <a:t>dots represent higher gene expression values.</a:t>
            </a:r>
          </a:p>
          <a:p>
            <a:pPr marL="742950" lvl="1" indent="-285750">
              <a:buFont typeface="Arial" panose="020B0604020202020204" pitchFamily="34" charset="0"/>
              <a:buChar char="•"/>
            </a:pPr>
            <a:r>
              <a:rPr lang="en-US" sz="1400" dirty="0"/>
              <a:t>Blue dots represent lower expression values.</a:t>
            </a:r>
          </a:p>
          <a:p>
            <a:pPr marL="742950" lvl="1" indent="-285750">
              <a:buFont typeface="Arial" panose="020B0604020202020204" pitchFamily="34" charset="0"/>
              <a:buChar char="•"/>
            </a:pPr>
            <a:r>
              <a:rPr lang="en-US" sz="1400" dirty="0"/>
              <a:t>For instance, SSBP3’s high expression—associated with favorable outcomes—is consistently marked in red and located on the left, suggesting its role as a possible cancer suppressor. </a:t>
            </a:r>
          </a:p>
          <a:p>
            <a:pPr marL="742950" lvl="1" indent="-285750">
              <a:buFont typeface="Arial" panose="020B0604020202020204" pitchFamily="34" charset="0"/>
              <a:buChar char="•"/>
            </a:pPr>
            <a:r>
              <a:rPr lang="en-US" sz="1400" dirty="0"/>
              <a:t>Conversely, gene expressions marked in red that appear on the right, such as TOP3B and COX7A2L, may be implicated as oncogenic or cancer promoters</a:t>
            </a:r>
          </a:p>
        </p:txBody>
      </p:sp>
      <p:sp>
        <p:nvSpPr>
          <p:cNvPr id="9" name="TextBox 8">
            <a:extLst>
              <a:ext uri="{FF2B5EF4-FFF2-40B4-BE49-F238E27FC236}">
                <a16:creationId xmlns:a16="http://schemas.microsoft.com/office/drawing/2014/main" id="{370DFB92-A777-B44B-919D-9F2D0EB19464}"/>
              </a:ext>
            </a:extLst>
          </p:cNvPr>
          <p:cNvSpPr txBox="1"/>
          <p:nvPr/>
        </p:nvSpPr>
        <p:spPr>
          <a:xfrm>
            <a:off x="4010915" y="267216"/>
            <a:ext cx="455206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Global SHAP values </a:t>
            </a:r>
            <a:r>
              <a:rPr lang="en-US" sz="1800" dirty="0"/>
              <a:t>rank genes by their overall influence on model outcomes.</a:t>
            </a:r>
          </a:p>
        </p:txBody>
      </p:sp>
    </p:spTree>
    <p:extLst>
      <p:ext uri="{BB962C8B-B14F-4D97-AF65-F5344CB8AC3E}">
        <p14:creationId xmlns:p14="http://schemas.microsoft.com/office/powerpoint/2010/main" val="905115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AD41E-9E62-493E-7DC7-47C802A42F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7996F8-97C5-B5A1-3307-345349535DE9}"/>
              </a:ext>
            </a:extLst>
          </p:cNvPr>
          <p:cNvPicPr>
            <a:picLocks noChangeAspect="1"/>
          </p:cNvPicPr>
          <p:nvPr/>
        </p:nvPicPr>
        <p:blipFill>
          <a:blip r:embed="rId2"/>
          <a:srcRect t="64075"/>
          <a:stretch/>
        </p:blipFill>
        <p:spPr>
          <a:xfrm>
            <a:off x="1105498" y="1809750"/>
            <a:ext cx="10876354" cy="1819275"/>
          </a:xfrm>
          <a:prstGeom prst="rect">
            <a:avLst/>
          </a:prstGeom>
        </p:spPr>
      </p:pic>
      <p:sp>
        <p:nvSpPr>
          <p:cNvPr id="5" name="TextBox 4">
            <a:extLst>
              <a:ext uri="{FF2B5EF4-FFF2-40B4-BE49-F238E27FC236}">
                <a16:creationId xmlns:a16="http://schemas.microsoft.com/office/drawing/2014/main" id="{74C1CD3F-82E5-65C1-D578-D2B2791AB391}"/>
              </a:ext>
            </a:extLst>
          </p:cNvPr>
          <p:cNvSpPr txBox="1"/>
          <p:nvPr/>
        </p:nvSpPr>
        <p:spPr>
          <a:xfrm>
            <a:off x="705081" y="3970144"/>
            <a:ext cx="11486919" cy="2246769"/>
          </a:xfrm>
          <a:prstGeom prst="rect">
            <a:avLst/>
          </a:prstGeom>
          <a:noFill/>
        </p:spPr>
        <p:txBody>
          <a:bodyPr wrap="square">
            <a:spAutoFit/>
          </a:bodyPr>
          <a:lstStyle/>
          <a:p>
            <a:pPr marL="742950" lvl="1" indent="-285750">
              <a:buFont typeface="Arial" panose="020B0604020202020204" pitchFamily="34" charset="0"/>
              <a:buChar char="•"/>
            </a:pPr>
            <a:r>
              <a:rPr lang="en-US" sz="2000" b="1" dirty="0"/>
              <a:t>TOP3B</a:t>
            </a:r>
            <a:r>
              <a:rPr lang="en-US" sz="2000" dirty="0"/>
              <a:t> and </a:t>
            </a:r>
            <a:r>
              <a:rPr lang="en-US" sz="2000" b="1" dirty="0"/>
              <a:t>COX7A2L</a:t>
            </a:r>
            <a:r>
              <a:rPr lang="en-US" sz="2000" dirty="0"/>
              <a:t> show primarily negative impacts, indicating that higher expression correlates with poorer survival outcomes.</a:t>
            </a:r>
          </a:p>
          <a:p>
            <a:pPr marL="742950" lvl="1" indent="-285750">
              <a:buFont typeface="Arial" panose="020B0604020202020204" pitchFamily="34" charset="0"/>
              <a:buChar char="•"/>
            </a:pPr>
            <a:r>
              <a:rPr lang="en-US" sz="2000" b="1" dirty="0"/>
              <a:t>SSBP3</a:t>
            </a:r>
            <a:r>
              <a:rPr lang="en-US" sz="2000" dirty="0"/>
              <a:t> shows positive impacts, suggesting higher expression is associated with better survival.</a:t>
            </a:r>
          </a:p>
          <a:p>
            <a:pPr marL="742950" lvl="1" indent="-285750">
              <a:buFont typeface="Arial" panose="020B0604020202020204" pitchFamily="34" charset="0"/>
              <a:buChar char="•"/>
            </a:pPr>
            <a:r>
              <a:rPr lang="en-US" sz="2000" b="0" i="0" dirty="0">
                <a:solidFill>
                  <a:srgbClr val="7030A0"/>
                </a:solidFill>
                <a:effectLst/>
                <a:latin typeface="ElsevierGulliver"/>
              </a:rPr>
              <a:t>The core discovery of this research lies in the explication of critical genes such as TOP3B, SSBP3, and COX7A2L through the lens of XAI. These genes have been identified as the most influential in HCC prognosis by each of the three employed AI models. </a:t>
            </a:r>
            <a:endParaRPr lang="en-US" sz="2000" dirty="0">
              <a:solidFill>
                <a:srgbClr val="7030A0"/>
              </a:solidFill>
            </a:endParaRPr>
          </a:p>
        </p:txBody>
      </p:sp>
      <p:sp>
        <p:nvSpPr>
          <p:cNvPr id="6" name="TextBox 5">
            <a:extLst>
              <a:ext uri="{FF2B5EF4-FFF2-40B4-BE49-F238E27FC236}">
                <a16:creationId xmlns:a16="http://schemas.microsoft.com/office/drawing/2014/main" id="{A94570AB-33FD-5D11-9C7D-6C6C11495128}"/>
              </a:ext>
            </a:extLst>
          </p:cNvPr>
          <p:cNvSpPr txBox="1"/>
          <p:nvPr/>
        </p:nvSpPr>
        <p:spPr>
          <a:xfrm>
            <a:off x="2216768" y="745182"/>
            <a:ext cx="7758463"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Local SHAP values provide </a:t>
            </a:r>
            <a:r>
              <a:rPr lang="en-US" sz="1800" dirty="0"/>
              <a:t>insights into how specific gene expression levels affected survival predictions for individual patients.</a:t>
            </a:r>
          </a:p>
        </p:txBody>
      </p:sp>
    </p:spTree>
    <p:extLst>
      <p:ext uri="{BB962C8B-B14F-4D97-AF65-F5344CB8AC3E}">
        <p14:creationId xmlns:p14="http://schemas.microsoft.com/office/powerpoint/2010/main" val="1409822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AC3602-3348-4F31-9E43-076B03514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FBD6266-C915-910F-4AAD-6753AA954E59}"/>
              </a:ext>
            </a:extLst>
          </p:cNvPr>
          <p:cNvSpPr>
            <a:spLocks noGrp="1"/>
          </p:cNvSpPr>
          <p:nvPr>
            <p:ph type="title"/>
          </p:nvPr>
        </p:nvSpPr>
        <p:spPr>
          <a:xfrm>
            <a:off x="838200" y="365125"/>
            <a:ext cx="9804918" cy="1325563"/>
          </a:xfrm>
        </p:spPr>
        <p:txBody>
          <a:bodyPr>
            <a:normAutofit/>
          </a:bodyPr>
          <a:lstStyle/>
          <a:p>
            <a:r>
              <a:rPr lang="en-US" dirty="0">
                <a:solidFill>
                  <a:schemeClr val="bg1"/>
                </a:solidFill>
              </a:rPr>
              <a:t>XAI Model Validation</a:t>
            </a:r>
            <a:endParaRPr lang="en-AE" dirty="0">
              <a:solidFill>
                <a:schemeClr val="bg1"/>
              </a:solidFill>
            </a:endParaRPr>
          </a:p>
        </p:txBody>
      </p:sp>
      <p:cxnSp>
        <p:nvCxnSpPr>
          <p:cNvPr id="11" name="Straight Connector 10">
            <a:extLst>
              <a:ext uri="{FF2B5EF4-FFF2-40B4-BE49-F238E27FC236}">
                <a16:creationId xmlns:a16="http://schemas.microsoft.com/office/drawing/2014/main" id="{94169334-264D-4176-8BDE-037249A61B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3" name="Graphic 11">
            <a:extLst>
              <a:ext uri="{FF2B5EF4-FFF2-40B4-BE49-F238E27FC236}">
                <a16:creationId xmlns:a16="http://schemas.microsoft.com/office/drawing/2014/main" id="{394094B0-A6C9-44BE-9042-66EF0612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03882"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5" name="Graphic 10">
            <a:extLst>
              <a:ext uri="{FF2B5EF4-FFF2-40B4-BE49-F238E27FC236}">
                <a16:creationId xmlns:a16="http://schemas.microsoft.com/office/drawing/2014/main" id="{64C2CA96-0B16-4AA7-B340-33044D238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62662"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17" name="Graphic 12">
            <a:extLst>
              <a:ext uri="{FF2B5EF4-FFF2-40B4-BE49-F238E27FC236}">
                <a16:creationId xmlns:a16="http://schemas.microsoft.com/office/drawing/2014/main" id="{1D50D7A8-F1D5-4306-8A9B-DD7A73EB8B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88342"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graphicFrame>
        <p:nvGraphicFramePr>
          <p:cNvPr id="5" name="Content Placeholder 2">
            <a:extLst>
              <a:ext uri="{FF2B5EF4-FFF2-40B4-BE49-F238E27FC236}">
                <a16:creationId xmlns:a16="http://schemas.microsoft.com/office/drawing/2014/main" id="{0010A0E9-2CE5-30D7-AF55-7A4F5D256666}"/>
              </a:ext>
            </a:extLst>
          </p:cNvPr>
          <p:cNvGraphicFramePr>
            <a:graphicFrameLocks noGrp="1"/>
          </p:cNvGraphicFramePr>
          <p:nvPr>
            <p:ph idx="1"/>
            <p:extLst>
              <p:ext uri="{D42A27DB-BD31-4B8C-83A1-F6EECF244321}">
                <p14:modId xmlns:p14="http://schemas.microsoft.com/office/powerpoint/2010/main" val="338561747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1650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6D64-E226-2F24-D4AB-48D8E0CA973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C0B2365-E705-362F-0B42-2E7E3E503E5C}"/>
              </a:ext>
            </a:extLst>
          </p:cNvPr>
          <p:cNvPicPr>
            <a:picLocks noChangeAspect="1"/>
          </p:cNvPicPr>
          <p:nvPr/>
        </p:nvPicPr>
        <p:blipFill>
          <a:blip r:embed="rId2"/>
          <a:stretch>
            <a:fillRect/>
          </a:stretch>
        </p:blipFill>
        <p:spPr>
          <a:xfrm>
            <a:off x="1673983" y="1690688"/>
            <a:ext cx="8844034" cy="2442887"/>
          </a:xfrm>
          <a:prstGeom prst="rect">
            <a:avLst/>
          </a:prstGeom>
        </p:spPr>
        <p:style>
          <a:lnRef idx="2">
            <a:schemeClr val="dk1"/>
          </a:lnRef>
          <a:fillRef idx="1">
            <a:schemeClr val="lt1"/>
          </a:fillRef>
          <a:effectRef idx="0">
            <a:schemeClr val="dk1"/>
          </a:effectRef>
          <a:fontRef idx="minor">
            <a:schemeClr val="dk1"/>
          </a:fontRef>
        </p:style>
      </p:pic>
      <p:sp>
        <p:nvSpPr>
          <p:cNvPr id="9" name="TextBox 8">
            <a:extLst>
              <a:ext uri="{FF2B5EF4-FFF2-40B4-BE49-F238E27FC236}">
                <a16:creationId xmlns:a16="http://schemas.microsoft.com/office/drawing/2014/main" id="{023A4F3C-5330-35AF-3419-3EC005E6B391}"/>
              </a:ext>
            </a:extLst>
          </p:cNvPr>
          <p:cNvSpPr txBox="1"/>
          <p:nvPr/>
        </p:nvSpPr>
        <p:spPr>
          <a:xfrm>
            <a:off x="728031" y="4322146"/>
            <a:ext cx="11463969" cy="2308324"/>
          </a:xfrm>
          <a:prstGeom prst="rect">
            <a:avLst/>
          </a:prstGeom>
          <a:noFill/>
        </p:spPr>
        <p:txBody>
          <a:bodyPr wrap="square">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a:t>
            </a:r>
            <a:r>
              <a:rPr lang="en-US" b="1" dirty="0">
                <a:latin typeface="Arial" panose="020B0604020202020204" pitchFamily="34" charset="0"/>
                <a:cs typeface="Arial" panose="020B0604020202020204" pitchFamily="34" charset="0"/>
              </a:rPr>
              <a:t> Probabilistic Causal Inference Framework </a:t>
            </a:r>
            <a:r>
              <a:rPr lang="en-US" dirty="0">
                <a:latin typeface="Arial" panose="020B0604020202020204" pitchFamily="34" charset="0"/>
                <a:cs typeface="Arial" panose="020B0604020202020204" pitchFamily="34" charset="0"/>
              </a:rPr>
              <a:t>mathematically evaluates whether the gene expression patterns identified by XAI have a causal effect on patient outcomes (beyond random associations).</a:t>
            </a:r>
          </a:p>
          <a:p>
            <a:pPr marL="285750" indent="-285750">
              <a:buFont typeface="Arial" panose="020B0604020202020204" pitchFamily="34" charset="0"/>
              <a:buChar char="•"/>
            </a:pPr>
            <a:r>
              <a:rPr lang="en-US" b="1" i="0" dirty="0">
                <a:effectLst/>
                <a:latin typeface="Arial" panose="020B0604020202020204" pitchFamily="34" charset="0"/>
                <a:cs typeface="Arial" panose="020B0604020202020204" pitchFamily="34" charset="0"/>
              </a:rPr>
              <a:t>Probabilistic causation</a:t>
            </a:r>
            <a:r>
              <a:rPr lang="en-US" b="0" i="0" dirty="0">
                <a:effectLst/>
                <a:latin typeface="Arial" panose="020B0604020202020204" pitchFamily="34" charset="0"/>
                <a:cs typeface="Arial" panose="020B0604020202020204" pitchFamily="34" charset="0"/>
              </a:rPr>
              <a:t> is a concept in a group of philosophical theories that aim to characterize the relationship between cause and effect using the tools of </a:t>
            </a:r>
            <a:r>
              <a:rPr lang="en-US" b="0" i="0" u="none" strike="noStrike" dirty="0">
                <a:effectLst/>
                <a:latin typeface="Arial" panose="020B0604020202020204" pitchFamily="34" charset="0"/>
                <a:cs typeface="Arial" panose="020B0604020202020204" pitchFamily="34" charset="0"/>
                <a:hlinkClick r:id="rId3" tooltip="Probability theory">
                  <a:extLst>
                    <a:ext uri="{A12FA001-AC4F-418D-AE19-62706E023703}">
                      <ahyp:hlinkClr xmlns:ahyp="http://schemas.microsoft.com/office/drawing/2018/hyperlinkcolor" val="tx"/>
                    </a:ext>
                  </a:extLst>
                </a:hlinkClick>
              </a:rPr>
              <a:t>probability theory</a:t>
            </a:r>
            <a:r>
              <a:rPr lang="en-US" b="0" i="0" dirty="0">
                <a:effectLst/>
                <a:latin typeface="Arial" panose="020B0604020202020204" pitchFamily="34" charset="0"/>
                <a:cs typeface="Arial" panose="020B0604020202020204" pitchFamily="34" charset="0"/>
              </a:rPr>
              <a:t>. The central idea behind these theories is that causes raise the probabilities of their effects, </a:t>
            </a:r>
            <a:r>
              <a:rPr lang="en-US" b="0" i="0" u="none" strike="noStrike" dirty="0">
                <a:effectLst/>
                <a:latin typeface="Arial" panose="020B0604020202020204" pitchFamily="34" charset="0"/>
                <a:cs typeface="Arial" panose="020B0604020202020204" pitchFamily="34" charset="0"/>
                <a:hlinkClick r:id="rId4" tooltip="All else being equal">
                  <a:extLst>
                    <a:ext uri="{A12FA001-AC4F-418D-AE19-62706E023703}">
                      <ahyp:hlinkClr xmlns:ahyp="http://schemas.microsoft.com/office/drawing/2018/hyperlinkcolor" val="tx"/>
                    </a:ext>
                  </a:extLst>
                </a:hlinkClick>
              </a:rPr>
              <a:t>all else being equal</a:t>
            </a:r>
            <a:r>
              <a:rPr lang="en-US" b="0" i="0" dirty="0">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i="0" dirty="0">
                <a:effectLst/>
                <a:latin typeface="Arial" panose="020B0604020202020204" pitchFamily="34" charset="0"/>
                <a:cs typeface="Arial" panose="020B0604020202020204" pitchFamily="34" charset="0"/>
              </a:rPr>
              <a:t>C0</a:t>
            </a:r>
            <a:r>
              <a:rPr lang="en-US" b="0" i="0" dirty="0">
                <a:effectLst/>
                <a:latin typeface="Arial" panose="020B0604020202020204" pitchFamily="34" charset="0"/>
                <a:cs typeface="Arial" panose="020B0604020202020204" pitchFamily="34" charset="0"/>
              </a:rPr>
              <a:t> is the number of patients in the cohort that survived beyond five years, </a:t>
            </a:r>
            <a:r>
              <a:rPr lang="en-US" b="1" i="0" dirty="0">
                <a:effectLst/>
                <a:latin typeface="Arial" panose="020B0604020202020204" pitchFamily="34" charset="0"/>
                <a:cs typeface="Arial" panose="020B0604020202020204" pitchFamily="34" charset="0"/>
              </a:rPr>
              <a:t>Ci</a:t>
            </a:r>
            <a:r>
              <a:rPr lang="en-US" b="0" i="0" dirty="0">
                <a:effectLst/>
                <a:latin typeface="Arial" panose="020B0604020202020204" pitchFamily="34" charset="0"/>
                <a:cs typeface="Arial" panose="020B0604020202020204" pitchFamily="34" charset="0"/>
              </a:rPr>
              <a:t> and </a:t>
            </a:r>
            <a:r>
              <a:rPr lang="en-US" b="1" i="0" dirty="0" err="1">
                <a:effectLst/>
                <a:latin typeface="Arial" panose="020B0604020202020204" pitchFamily="34" charset="0"/>
                <a:cs typeface="Arial" panose="020B0604020202020204" pitchFamily="34" charset="0"/>
              </a:rPr>
              <a:t>Cj</a:t>
            </a:r>
            <a:r>
              <a:rPr lang="en-US" b="0" i="0" dirty="0">
                <a:effectLst/>
                <a:latin typeface="Arial" panose="020B0604020202020204" pitchFamily="34" charset="0"/>
                <a:cs typeface="Arial" panose="020B0604020202020204" pitchFamily="34" charset="0"/>
              </a:rPr>
              <a:t> are the number of patients in the cohort that satisfy the genetic conditions (</a:t>
            </a:r>
            <a:r>
              <a:rPr lang="en-US" b="0" i="0" dirty="0" err="1">
                <a:effectLst/>
                <a:latin typeface="Arial" panose="020B0604020202020204" pitchFamily="34" charset="0"/>
                <a:cs typeface="Arial" panose="020B0604020202020204" pitchFamily="34" charset="0"/>
              </a:rPr>
              <a:t>i</a:t>
            </a:r>
            <a:r>
              <a:rPr lang="en-US" b="0" i="0" dirty="0">
                <a:effectLst/>
                <a:latin typeface="Arial" panose="020B0604020202020204" pitchFamily="34" charset="0"/>
                <a:cs typeface="Arial" panose="020B0604020202020204" pitchFamily="34" charset="0"/>
              </a:rPr>
              <a:t> and j) identified by XAI, and</a:t>
            </a:r>
            <a:r>
              <a:rPr lang="en-US" b="1" i="0" dirty="0">
                <a:effectLst/>
                <a:latin typeface="Arial" panose="020B0604020202020204" pitchFamily="34" charset="0"/>
                <a:cs typeface="Arial" panose="020B0604020202020204" pitchFamily="34" charset="0"/>
              </a:rPr>
              <a:t> P(</a:t>
            </a:r>
            <a:r>
              <a:rPr lang="en-US" b="1" i="0" dirty="0" err="1">
                <a:effectLst/>
                <a:latin typeface="Arial" panose="020B0604020202020204" pitchFamily="34" charset="0"/>
                <a:cs typeface="Arial" panose="020B0604020202020204" pitchFamily="34" charset="0"/>
              </a:rPr>
              <a:t>Ci∩Cj</a:t>
            </a:r>
            <a:r>
              <a:rPr lang="en-US" b="0" i="0" dirty="0">
                <a:effectLst/>
                <a:latin typeface="Arial" panose="020B0604020202020204" pitchFamily="34" charset="0"/>
                <a:cs typeface="Arial" panose="020B0604020202020204" pitchFamily="34" charset="0"/>
              </a:rPr>
              <a:t>) is the probability that conditions </a:t>
            </a:r>
            <a:r>
              <a:rPr lang="en-US" b="0" i="0" dirty="0" err="1">
                <a:effectLst/>
                <a:latin typeface="Arial" panose="020B0604020202020204" pitchFamily="34" charset="0"/>
                <a:cs typeface="Arial" panose="020B0604020202020204" pitchFamily="34" charset="0"/>
              </a:rPr>
              <a:t>i</a:t>
            </a:r>
            <a:r>
              <a:rPr lang="en-US" b="0" i="0" dirty="0">
                <a:effectLst/>
                <a:latin typeface="Arial" panose="020B0604020202020204" pitchFamily="34" charset="0"/>
                <a:cs typeface="Arial" panose="020B0604020202020204" pitchFamily="34" charset="0"/>
              </a:rPr>
              <a:t> and j are both satisfied.</a:t>
            </a:r>
          </a:p>
        </p:txBody>
      </p:sp>
      <p:sp>
        <p:nvSpPr>
          <p:cNvPr id="19" name="Title 1">
            <a:extLst>
              <a:ext uri="{FF2B5EF4-FFF2-40B4-BE49-F238E27FC236}">
                <a16:creationId xmlns:a16="http://schemas.microsoft.com/office/drawing/2014/main" id="{041FF94A-5D96-FD24-3C59-666C934A9414}"/>
              </a:ext>
            </a:extLst>
          </p:cNvPr>
          <p:cNvSpPr>
            <a:spLocks noGrp="1"/>
          </p:cNvSpPr>
          <p:nvPr>
            <p:ph type="title"/>
          </p:nvPr>
        </p:nvSpPr>
        <p:spPr>
          <a:xfrm>
            <a:off x="838200" y="365125"/>
            <a:ext cx="9804918" cy="1325563"/>
          </a:xfrm>
        </p:spPr>
        <p:txBody>
          <a:bodyPr>
            <a:normAutofit/>
          </a:bodyPr>
          <a:lstStyle/>
          <a:p>
            <a:r>
              <a:rPr lang="en-US" dirty="0"/>
              <a:t>XAI Model Validation</a:t>
            </a:r>
            <a:endParaRPr lang="en-AE" dirty="0"/>
          </a:p>
        </p:txBody>
      </p:sp>
    </p:spTree>
    <p:extLst>
      <p:ext uri="{BB962C8B-B14F-4D97-AF65-F5344CB8AC3E}">
        <p14:creationId xmlns:p14="http://schemas.microsoft.com/office/powerpoint/2010/main" val="318538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F7A5A-AF68-7DF2-CF01-BC3524E8A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6E7C2-44E2-5B33-0628-AE001D62B102}"/>
              </a:ext>
            </a:extLst>
          </p:cNvPr>
          <p:cNvSpPr>
            <a:spLocks noGrp="1"/>
          </p:cNvSpPr>
          <p:nvPr>
            <p:ph type="title"/>
          </p:nvPr>
        </p:nvSpPr>
        <p:spPr>
          <a:xfrm>
            <a:off x="728031" y="194482"/>
            <a:ext cx="9804918" cy="683439"/>
          </a:xfrm>
        </p:spPr>
        <p:txBody>
          <a:bodyPr>
            <a:normAutofit/>
          </a:bodyPr>
          <a:lstStyle/>
          <a:p>
            <a:r>
              <a:rPr lang="en-US" sz="2800" dirty="0"/>
              <a:t>XAI Model Validation</a:t>
            </a:r>
            <a:endParaRPr lang="en-AE" sz="2800" dirty="0"/>
          </a:p>
        </p:txBody>
      </p:sp>
      <p:pic>
        <p:nvPicPr>
          <p:cNvPr id="7" name="Picture 6">
            <a:extLst>
              <a:ext uri="{FF2B5EF4-FFF2-40B4-BE49-F238E27FC236}">
                <a16:creationId xmlns:a16="http://schemas.microsoft.com/office/drawing/2014/main" id="{E03CDBC8-2482-A296-6AA4-3064627B1F36}"/>
              </a:ext>
            </a:extLst>
          </p:cNvPr>
          <p:cNvPicPr>
            <a:picLocks noChangeAspect="1"/>
          </p:cNvPicPr>
          <p:nvPr/>
        </p:nvPicPr>
        <p:blipFill>
          <a:blip r:embed="rId2"/>
          <a:stretch>
            <a:fillRect/>
          </a:stretch>
        </p:blipFill>
        <p:spPr>
          <a:xfrm>
            <a:off x="1868333" y="907186"/>
            <a:ext cx="9183364" cy="2536616"/>
          </a:xfrm>
          <a:prstGeom prst="rect">
            <a:avLst/>
          </a:prstGeom>
        </p:spPr>
        <p:style>
          <a:lnRef idx="2">
            <a:schemeClr val="dk1"/>
          </a:lnRef>
          <a:fillRef idx="1">
            <a:schemeClr val="lt1"/>
          </a:fillRef>
          <a:effectRef idx="0">
            <a:schemeClr val="dk1"/>
          </a:effectRef>
          <a:fontRef idx="minor">
            <a:schemeClr val="dk1"/>
          </a:fontRef>
        </p:style>
      </p:pic>
      <p:sp>
        <p:nvSpPr>
          <p:cNvPr id="9" name="TextBox 8">
            <a:extLst>
              <a:ext uri="{FF2B5EF4-FFF2-40B4-BE49-F238E27FC236}">
                <a16:creationId xmlns:a16="http://schemas.microsoft.com/office/drawing/2014/main" id="{0ED2D119-5E78-F1D6-4CD3-EC8A885E7A0F}"/>
              </a:ext>
            </a:extLst>
          </p:cNvPr>
          <p:cNvSpPr txBox="1"/>
          <p:nvPr/>
        </p:nvSpPr>
        <p:spPr>
          <a:xfrm>
            <a:off x="728031" y="3561204"/>
            <a:ext cx="11463969" cy="2862322"/>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Equation (8)</a:t>
            </a:r>
            <a:r>
              <a:rPr lang="en-US" dirty="0">
                <a:latin typeface="Arial" panose="020B0604020202020204" pitchFamily="34" charset="0"/>
                <a:cs typeface="Arial" panose="020B0604020202020204" pitchFamily="34" charset="0"/>
              </a:rPr>
              <a:t> measures the conditional probability that a specific gene </a:t>
            </a:r>
            <a:r>
              <a:rPr lang="en-US" b="1" dirty="0">
                <a:latin typeface="Arial" panose="020B0604020202020204" pitchFamily="34" charset="0"/>
                <a:cs typeface="Arial" panose="020B0604020202020204" pitchFamily="34" charset="0"/>
              </a:rPr>
              <a:t>Ci​ </a:t>
            </a:r>
            <a:r>
              <a:rPr lang="en-US" dirty="0">
                <a:latin typeface="Arial" panose="020B0604020202020204" pitchFamily="34" charset="0"/>
                <a:cs typeface="Arial" panose="020B0604020202020204" pitchFamily="34" charset="0"/>
              </a:rPr>
              <a:t>(acting as a cancer promoter or suppressor) is causally associated with survival outcomes </a:t>
            </a:r>
            <a:r>
              <a:rPr lang="en-US" b="1" dirty="0">
                <a:latin typeface="Arial" panose="020B0604020202020204" pitchFamily="34" charset="0"/>
                <a:cs typeface="Arial" panose="020B0604020202020204" pitchFamily="34" charset="0"/>
              </a:rPr>
              <a:t>C0​</a:t>
            </a:r>
            <a:r>
              <a:rPr lang="en-US" dirty="0">
                <a:latin typeface="Arial" panose="020B0604020202020204" pitchFamily="34" charset="0"/>
                <a:cs typeface="Arial" panose="020B0604020202020204" pitchFamily="34" charset="0"/>
              </a:rPr>
              <a:t>. It does so by:</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P(Ci </a:t>
            </a:r>
            <a:r>
              <a:rPr lang="en-US" b="1" i="0" dirty="0">
                <a:solidFill>
                  <a:srgbClr val="1A1A1A"/>
                </a:solidFill>
                <a:effectLst/>
                <a:latin typeface="Arial" panose="020B0604020202020204" pitchFamily="34" charset="0"/>
                <a:cs typeface="Arial" panose="020B0604020202020204" pitchFamily="34" charset="0"/>
              </a:rPr>
              <a:t>∩ C0): </a:t>
            </a:r>
            <a:r>
              <a:rPr lang="en-US" dirty="0">
                <a:latin typeface="Arial" panose="020B0604020202020204" pitchFamily="34" charset="0"/>
                <a:cs typeface="Arial" panose="020B0604020202020204" pitchFamily="34" charset="0"/>
              </a:rPr>
              <a:t>Calculating the probability that both the gene condition </a:t>
            </a:r>
            <a:r>
              <a:rPr lang="en-US" b="1" dirty="0">
                <a:latin typeface="Arial" panose="020B0604020202020204" pitchFamily="34" charset="0"/>
                <a:cs typeface="Arial" panose="020B0604020202020204" pitchFamily="34" charset="0"/>
              </a:rPr>
              <a:t>Ci</a:t>
            </a:r>
            <a:r>
              <a:rPr lang="en-US" dirty="0">
                <a:latin typeface="Arial" panose="020B0604020202020204" pitchFamily="34" charset="0"/>
                <a:cs typeface="Arial" panose="020B0604020202020204" pitchFamily="34" charset="0"/>
              </a:rPr>
              <a:t> and the survival condition </a:t>
            </a:r>
            <a:r>
              <a:rPr lang="en-US" b="1" dirty="0">
                <a:latin typeface="Arial" panose="020B0604020202020204" pitchFamily="34" charset="0"/>
                <a:cs typeface="Arial" panose="020B0604020202020204" pitchFamily="34" charset="0"/>
              </a:rPr>
              <a:t>C0</a:t>
            </a:r>
            <a:r>
              <a:rPr lang="en-US" dirty="0">
                <a:latin typeface="Arial" panose="020B0604020202020204" pitchFamily="34" charset="0"/>
                <a:cs typeface="Arial" panose="020B0604020202020204" pitchFamily="34" charset="0"/>
              </a:rPr>
              <a:t> occur simultaneously.</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P(Ci):</a:t>
            </a:r>
            <a:r>
              <a:rPr lang="en-US" dirty="0">
                <a:latin typeface="Arial" panose="020B0604020202020204" pitchFamily="34" charset="0"/>
                <a:cs typeface="Arial" panose="020B0604020202020204" pitchFamily="34" charset="0"/>
              </a:rPr>
              <a:t> The probability of the gene condition </a:t>
            </a:r>
            <a:r>
              <a:rPr lang="en-US" b="1" dirty="0">
                <a:latin typeface="Arial" panose="020B0604020202020204" pitchFamily="34" charset="0"/>
                <a:cs typeface="Arial" panose="020B0604020202020204" pitchFamily="34" charset="0"/>
              </a:rPr>
              <a:t>Ci </a:t>
            </a:r>
            <a:r>
              <a:rPr lang="en-US" dirty="0">
                <a:latin typeface="Arial" panose="020B0604020202020204" pitchFamily="34" charset="0"/>
                <a:cs typeface="Arial" panose="020B0604020202020204" pitchFamily="34" charset="0"/>
              </a:rPr>
              <a:t>occurring independently.</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Equation (9)</a:t>
            </a:r>
            <a:r>
              <a:rPr lang="en-US" dirty="0">
                <a:latin typeface="Arial" panose="020B0604020202020204" pitchFamily="34" charset="0"/>
                <a:cs typeface="Arial" panose="020B0604020202020204" pitchFamily="34" charset="0"/>
              </a:rPr>
              <a:t> extends the analysis to combinatorial sets of genes (e.g., </a:t>
            </a:r>
            <a:r>
              <a:rPr lang="en-US" b="1" dirty="0">
                <a:latin typeface="Arial" panose="020B0604020202020204" pitchFamily="34" charset="0"/>
                <a:cs typeface="Arial" panose="020B0604020202020204" pitchFamily="34" charset="0"/>
              </a:rPr>
              <a:t>Ci</a:t>
            </a:r>
            <a:r>
              <a:rPr lang="en-US" dirty="0">
                <a:latin typeface="Arial" panose="020B0604020202020204" pitchFamily="34" charset="0"/>
                <a:cs typeface="Arial" panose="020B0604020202020204" pitchFamily="34" charset="0"/>
              </a:rPr>
              <a:t> and </a:t>
            </a:r>
            <a:r>
              <a:rPr lang="en-US" b="1" dirty="0" err="1">
                <a:latin typeface="Arial" panose="020B0604020202020204" pitchFamily="34" charset="0"/>
                <a:cs typeface="Arial" panose="020B0604020202020204" pitchFamily="34" charset="0"/>
              </a:rPr>
              <a:t>Cj</a:t>
            </a:r>
            <a:r>
              <a:rPr lang="en-US" dirty="0">
                <a:latin typeface="Arial" panose="020B0604020202020204" pitchFamily="34" charset="0"/>
                <a:cs typeface="Arial" panose="020B0604020202020204" pitchFamily="34" charset="0"/>
              </a:rPr>
              <a:t>) by measuring the conditional probability that multiple genes collectively influence survival outcomes. It considers:</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P[(Ci</a:t>
            </a:r>
            <a:r>
              <a:rPr lang="en-US" b="1" dirty="0">
                <a:solidFill>
                  <a:srgbClr val="1A1A1A"/>
                </a:solidFill>
                <a:latin typeface="Arial" panose="020B0604020202020204" pitchFamily="34" charset="0"/>
                <a:cs typeface="Arial" panose="020B0604020202020204" pitchFamily="34" charset="0"/>
              </a:rPr>
              <a:t> </a:t>
            </a:r>
            <a:r>
              <a:rPr lang="en-US" b="1" i="0" dirty="0">
                <a:solidFill>
                  <a:srgbClr val="1A1A1A"/>
                </a:solidFill>
                <a:effectLst/>
                <a:latin typeface="Arial" panose="020B0604020202020204" pitchFamily="34" charset="0"/>
                <a:cs typeface="Arial" panose="020B0604020202020204" pitchFamily="34" charset="0"/>
              </a:rPr>
              <a:t>∩</a:t>
            </a:r>
            <a:r>
              <a:rPr lang="en-US" b="1" dirty="0">
                <a:solidFill>
                  <a:srgbClr val="1A1A1A"/>
                </a:solidFill>
                <a:latin typeface="Arial" panose="020B0604020202020204" pitchFamily="34" charset="0"/>
                <a:cs typeface="Arial" panose="020B0604020202020204" pitchFamily="34" charset="0"/>
              </a:rPr>
              <a:t> Co) </a:t>
            </a:r>
            <a:r>
              <a:rPr lang="en-US" b="1" i="0" dirty="0">
                <a:solidFill>
                  <a:srgbClr val="1A1A1A"/>
                </a:solidFill>
                <a:effectLst/>
                <a:latin typeface="Arial" panose="020B0604020202020204" pitchFamily="34" charset="0"/>
                <a:cs typeface="Arial" panose="020B0604020202020204" pitchFamily="34" charset="0"/>
              </a:rPr>
              <a:t>∪</a:t>
            </a:r>
            <a:r>
              <a:rPr lang="en-US" b="1" dirty="0">
                <a:solidFill>
                  <a:srgbClr val="1A1A1A"/>
                </a:solidFill>
                <a:latin typeface="Arial" panose="020B0604020202020204" pitchFamily="34" charset="0"/>
                <a:cs typeface="Arial" panose="020B0604020202020204" pitchFamily="34" charset="0"/>
              </a:rPr>
              <a:t> (</a:t>
            </a:r>
            <a:r>
              <a:rPr lang="en-US" b="1" dirty="0" err="1">
                <a:solidFill>
                  <a:srgbClr val="1A1A1A"/>
                </a:solidFill>
                <a:latin typeface="Arial" panose="020B0604020202020204" pitchFamily="34" charset="0"/>
                <a:cs typeface="Arial" panose="020B0604020202020204" pitchFamily="34" charset="0"/>
              </a:rPr>
              <a:t>Cj</a:t>
            </a:r>
            <a:r>
              <a:rPr lang="en-US" b="1" dirty="0">
                <a:solidFill>
                  <a:srgbClr val="1A1A1A"/>
                </a:solidFill>
                <a:latin typeface="Arial" panose="020B0604020202020204" pitchFamily="34" charset="0"/>
                <a:cs typeface="Arial" panose="020B0604020202020204" pitchFamily="34" charset="0"/>
              </a:rPr>
              <a:t> </a:t>
            </a:r>
            <a:r>
              <a:rPr lang="en-US" b="1" i="0" dirty="0">
                <a:solidFill>
                  <a:srgbClr val="1A1A1A"/>
                </a:solidFill>
                <a:effectLst/>
                <a:latin typeface="Arial" panose="020B0604020202020204" pitchFamily="34" charset="0"/>
                <a:cs typeface="Arial" panose="020B0604020202020204" pitchFamily="34" charset="0"/>
              </a:rPr>
              <a:t>∩ C0)]: </a:t>
            </a:r>
            <a:r>
              <a:rPr lang="en-US" dirty="0">
                <a:latin typeface="Arial" panose="020B0604020202020204" pitchFamily="34" charset="0"/>
                <a:cs typeface="Arial" panose="020B0604020202020204" pitchFamily="34" charset="0"/>
              </a:rPr>
              <a:t>The combined probability that either </a:t>
            </a:r>
            <a:r>
              <a:rPr lang="en-US" b="1" dirty="0">
                <a:latin typeface="Arial" panose="020B0604020202020204" pitchFamily="34" charset="0"/>
                <a:cs typeface="Arial" panose="020B0604020202020204" pitchFamily="34" charset="0"/>
              </a:rPr>
              <a:t>Ci</a:t>
            </a:r>
            <a:r>
              <a:rPr lang="en-US" dirty="0">
                <a:latin typeface="Arial" panose="020B0604020202020204" pitchFamily="34" charset="0"/>
                <a:cs typeface="Arial" panose="020B0604020202020204" pitchFamily="34" charset="0"/>
              </a:rPr>
              <a:t> or </a:t>
            </a:r>
            <a:r>
              <a:rPr lang="en-US" b="1" dirty="0" err="1">
                <a:latin typeface="Arial" panose="020B0604020202020204" pitchFamily="34" charset="0"/>
                <a:cs typeface="Arial" panose="020B0604020202020204" pitchFamily="34" charset="0"/>
              </a:rPr>
              <a:t>Cj</a:t>
            </a:r>
            <a:r>
              <a:rPr lang="en-US" dirty="0">
                <a:latin typeface="Arial" panose="020B0604020202020204" pitchFamily="34" charset="0"/>
                <a:cs typeface="Arial" panose="020B0604020202020204" pitchFamily="34" charset="0"/>
              </a:rPr>
              <a:t>​, in conjunction with the survival condition </a:t>
            </a:r>
            <a:r>
              <a:rPr lang="en-US" b="1" dirty="0">
                <a:latin typeface="Arial" panose="020B0604020202020204" pitchFamily="34" charset="0"/>
                <a:cs typeface="Arial" panose="020B0604020202020204" pitchFamily="34" charset="0"/>
              </a:rPr>
              <a:t>C0</a:t>
            </a:r>
            <a:r>
              <a:rPr lang="en-US" dirty="0">
                <a:latin typeface="Arial" panose="020B0604020202020204" pitchFamily="34" charset="0"/>
                <a:cs typeface="Arial" panose="020B0604020202020204" pitchFamily="34" charset="0"/>
              </a:rPr>
              <a:t>​, occurs.</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P(Ci</a:t>
            </a:r>
            <a:r>
              <a:rPr lang="en-US" b="1" dirty="0">
                <a:solidFill>
                  <a:srgbClr val="1A1A1A"/>
                </a:solidFill>
                <a:latin typeface="Arial" panose="020B0604020202020204" pitchFamily="34" charset="0"/>
                <a:cs typeface="Arial" panose="020B0604020202020204" pitchFamily="34" charset="0"/>
              </a:rPr>
              <a:t> </a:t>
            </a:r>
            <a:r>
              <a:rPr lang="en-US" b="1" i="0" dirty="0">
                <a:solidFill>
                  <a:srgbClr val="1A1A1A"/>
                </a:solidFill>
                <a:effectLst/>
                <a:latin typeface="Arial" panose="020B0604020202020204" pitchFamily="34" charset="0"/>
                <a:cs typeface="Arial" panose="020B0604020202020204" pitchFamily="34" charset="0"/>
              </a:rPr>
              <a:t>∩</a:t>
            </a:r>
            <a:r>
              <a:rPr lang="en-US" b="1" dirty="0">
                <a:solidFill>
                  <a:srgbClr val="1A1A1A"/>
                </a:solidFill>
                <a:latin typeface="Arial" panose="020B0604020202020204" pitchFamily="34" charset="0"/>
                <a:cs typeface="Arial" panose="020B0604020202020204" pitchFamily="34" charset="0"/>
              </a:rPr>
              <a:t> </a:t>
            </a:r>
            <a:r>
              <a:rPr lang="en-US" b="1" dirty="0" err="1">
                <a:solidFill>
                  <a:srgbClr val="1A1A1A"/>
                </a:solidFill>
                <a:latin typeface="Arial" panose="020B0604020202020204" pitchFamily="34" charset="0"/>
                <a:cs typeface="Arial" panose="020B0604020202020204" pitchFamily="34" charset="0"/>
              </a:rPr>
              <a:t>Cj</a:t>
            </a:r>
            <a:r>
              <a:rPr lang="en-US" b="1" dirty="0">
                <a:solidFill>
                  <a:srgbClr val="1A1A1A"/>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joint probability of the two gene conditions </a:t>
            </a:r>
            <a:r>
              <a:rPr lang="en-US" b="1" dirty="0">
                <a:latin typeface="Arial" panose="020B0604020202020204" pitchFamily="34" charset="0"/>
                <a:cs typeface="Arial" panose="020B0604020202020204" pitchFamily="34" charset="0"/>
              </a:rPr>
              <a:t>Ci</a:t>
            </a:r>
            <a:r>
              <a:rPr lang="en-US" dirty="0">
                <a:latin typeface="Arial" panose="020B0604020202020204" pitchFamily="34" charset="0"/>
                <a:cs typeface="Arial" panose="020B0604020202020204" pitchFamily="34" charset="0"/>
              </a:rPr>
              <a:t> and </a:t>
            </a:r>
            <a:r>
              <a:rPr lang="en-US" b="1" dirty="0" err="1">
                <a:latin typeface="Arial" panose="020B0604020202020204" pitchFamily="34" charset="0"/>
                <a:cs typeface="Arial" panose="020B0604020202020204" pitchFamily="34" charset="0"/>
              </a:rPr>
              <a:t>Cj</a:t>
            </a:r>
            <a:r>
              <a:rPr lang="en-US" dirty="0">
                <a:latin typeface="Arial" panose="020B0604020202020204" pitchFamily="34" charset="0"/>
                <a:cs typeface="Arial" panose="020B0604020202020204" pitchFamily="34" charset="0"/>
              </a:rPr>
              <a:t>​ occurring.</a:t>
            </a:r>
          </a:p>
        </p:txBody>
      </p:sp>
    </p:spTree>
    <p:extLst>
      <p:ext uri="{BB962C8B-B14F-4D97-AF65-F5344CB8AC3E}">
        <p14:creationId xmlns:p14="http://schemas.microsoft.com/office/powerpoint/2010/main" val="280853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295A-C673-89FB-1721-FFD7DB451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7A30D-CCA5-AB3A-5A22-244E5A6B99AF}"/>
              </a:ext>
            </a:extLst>
          </p:cNvPr>
          <p:cNvSpPr>
            <a:spLocks noGrp="1"/>
          </p:cNvSpPr>
          <p:nvPr>
            <p:ph type="title"/>
          </p:nvPr>
        </p:nvSpPr>
        <p:spPr>
          <a:xfrm>
            <a:off x="851599" y="577105"/>
            <a:ext cx="4684228" cy="683439"/>
          </a:xfrm>
        </p:spPr>
        <p:txBody>
          <a:bodyPr>
            <a:normAutofit/>
          </a:bodyPr>
          <a:lstStyle/>
          <a:p>
            <a:r>
              <a:rPr lang="en-US" sz="2800" dirty="0"/>
              <a:t>XAI Model Validation</a:t>
            </a:r>
            <a:endParaRPr lang="en-AE" sz="2800" dirty="0"/>
          </a:p>
        </p:txBody>
      </p:sp>
      <p:pic>
        <p:nvPicPr>
          <p:cNvPr id="7" name="Picture 6">
            <a:extLst>
              <a:ext uri="{FF2B5EF4-FFF2-40B4-BE49-F238E27FC236}">
                <a16:creationId xmlns:a16="http://schemas.microsoft.com/office/drawing/2014/main" id="{15DDDAAA-7CB8-CAE8-A406-833D0F837B29}"/>
              </a:ext>
            </a:extLst>
          </p:cNvPr>
          <p:cNvPicPr>
            <a:picLocks noChangeAspect="1"/>
          </p:cNvPicPr>
          <p:nvPr/>
        </p:nvPicPr>
        <p:blipFill>
          <a:blip r:embed="rId2"/>
          <a:stretch>
            <a:fillRect/>
          </a:stretch>
        </p:blipFill>
        <p:spPr>
          <a:xfrm>
            <a:off x="5619099" y="110070"/>
            <a:ext cx="5721302" cy="1580331"/>
          </a:xfrm>
          <a:prstGeom prst="rect">
            <a:avLst/>
          </a:prstGeom>
        </p:spPr>
        <p:style>
          <a:lnRef idx="2">
            <a:schemeClr val="dk1"/>
          </a:lnRef>
          <a:fillRef idx="1">
            <a:schemeClr val="lt1"/>
          </a:fillRef>
          <a:effectRef idx="0">
            <a:schemeClr val="dk1"/>
          </a:effectRef>
          <a:fontRef idx="minor">
            <a:schemeClr val="dk1"/>
          </a:fontRef>
        </p:style>
      </p:pic>
      <p:sp>
        <p:nvSpPr>
          <p:cNvPr id="9" name="TextBox 8">
            <a:extLst>
              <a:ext uri="{FF2B5EF4-FFF2-40B4-BE49-F238E27FC236}">
                <a16:creationId xmlns:a16="http://schemas.microsoft.com/office/drawing/2014/main" id="{F7514CE0-2A91-BE0B-7F42-0670CCED6D52}"/>
              </a:ext>
            </a:extLst>
          </p:cNvPr>
          <p:cNvSpPr txBox="1"/>
          <p:nvPr/>
        </p:nvSpPr>
        <p:spPr>
          <a:xfrm>
            <a:off x="728031" y="3695572"/>
            <a:ext cx="11463969" cy="2585323"/>
          </a:xfrm>
          <a:prstGeom prst="rect">
            <a:avLst/>
          </a:prstGeom>
          <a:noFill/>
        </p:spPr>
        <p:txBody>
          <a:bodyPr wrap="square">
            <a:spAutoFit/>
          </a:bodyPr>
          <a:lstStyle/>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Using this probabilistic causal inference approach, this study quantifies the validity of hypotheses generated by XAI models in the context of HCC by calculating the likelihood of specific gene expression patterns being indicative of HCC prognosis. </a:t>
            </a:r>
          </a:p>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For instance, the probabilistic truth of the assertion that lower expressions of TOP3 and COX7A2L (below approximately 3.5 and 8 transcripts per million, respectively) are linked to better HCC outcomes, and higher SSBP3 expression (above approximately 5.5 transcripts per million) associates with improved survival, is computed to be 66.7%. </a:t>
            </a:r>
          </a:p>
          <a:p>
            <a:pPr marL="285750" indent="-285750">
              <a:buFont typeface="Arial" panose="020B0604020202020204" pitchFamily="34" charset="0"/>
              <a:buChar char="•"/>
            </a:pPr>
            <a:r>
              <a:rPr lang="en-US" b="0" i="0" dirty="0">
                <a:effectLst/>
                <a:latin typeface="Arial" panose="020B0604020202020204" pitchFamily="34" charset="0"/>
                <a:cs typeface="Arial" panose="020B0604020202020204" pitchFamily="34" charset="0"/>
              </a:rPr>
              <a:t>This quantification not only reinforces the credibility of the insights derived from XAI but also substantiates the potential for these gene expressions to serve as predictive markers for patient prognosis.</a:t>
            </a: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86636EA3-730F-A0E2-3308-B4A337B9F20E}"/>
              </a:ext>
            </a:extLst>
          </p:cNvPr>
          <p:cNvPicPr>
            <a:picLocks noChangeAspect="1"/>
          </p:cNvPicPr>
          <p:nvPr/>
        </p:nvPicPr>
        <p:blipFill>
          <a:blip r:embed="rId3"/>
          <a:srcRect t="64075"/>
          <a:stretch/>
        </p:blipFill>
        <p:spPr>
          <a:xfrm>
            <a:off x="973123" y="1771248"/>
            <a:ext cx="10876354" cy="1819275"/>
          </a:xfrm>
          <a:prstGeom prst="rect">
            <a:avLst/>
          </a:prstGeom>
        </p:spPr>
      </p:pic>
    </p:spTree>
    <p:extLst>
      <p:ext uri="{BB962C8B-B14F-4D97-AF65-F5344CB8AC3E}">
        <p14:creationId xmlns:p14="http://schemas.microsoft.com/office/powerpoint/2010/main" val="1961601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8DE916-A166-35C6-32AF-9061BBFF3C04}"/>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D3F8CBBB-2DA5-360E-9F0D-D5474A07146C}"/>
              </a:ext>
            </a:extLst>
          </p:cNvPr>
          <p:cNvSpPr>
            <a:spLocks noGrp="1"/>
          </p:cNvSpPr>
          <p:nvPr>
            <p:ph type="title"/>
          </p:nvPr>
        </p:nvSpPr>
        <p:spPr>
          <a:xfrm>
            <a:off x="6392583" y="501651"/>
            <a:ext cx="4434720" cy="1716255"/>
          </a:xfrm>
        </p:spPr>
        <p:txBody>
          <a:bodyPr vert="horz" lIns="91440" tIns="45720" rIns="91440" bIns="45720" rtlCol="0" anchor="b">
            <a:normAutofit/>
          </a:bodyPr>
          <a:lstStyle/>
          <a:p>
            <a:r>
              <a:rPr lang="en-US" sz="5400" kern="1200" dirty="0">
                <a:solidFill>
                  <a:schemeClr val="tx1"/>
                </a:solidFill>
                <a:latin typeface="+mj-lt"/>
                <a:ea typeface="+mj-ea"/>
                <a:cs typeface="+mj-cs"/>
              </a:rPr>
              <a:t>Study Findin</a:t>
            </a:r>
            <a:r>
              <a:rPr lang="en-US" sz="5400" dirty="0"/>
              <a:t>gs</a:t>
            </a:r>
            <a:endParaRPr lang="en-US" sz="5400" kern="1200" dirty="0">
              <a:solidFill>
                <a:schemeClr val="tx1"/>
              </a:solidFill>
              <a:latin typeface="+mj-lt"/>
              <a:ea typeface="+mj-ea"/>
              <a:cs typeface="+mj-cs"/>
            </a:endParaRPr>
          </a:p>
        </p:txBody>
      </p:sp>
      <p:sp>
        <p:nvSpPr>
          <p:cNvPr id="26" name="Rectangle 25">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DEE6797-FEE2-E359-0F62-1B83A251EF6B}"/>
              </a:ext>
            </a:extLst>
          </p:cNvPr>
          <p:cNvPicPr>
            <a:picLocks noChangeAspect="1"/>
          </p:cNvPicPr>
          <p:nvPr/>
        </p:nvPicPr>
        <p:blipFill>
          <a:blip r:embed="rId2"/>
          <a:srcRect r="4696"/>
          <a:stretch/>
        </p:blipFill>
        <p:spPr>
          <a:xfrm>
            <a:off x="279143" y="299508"/>
            <a:ext cx="5221625" cy="3010397"/>
          </a:xfrm>
          <a:prstGeom prst="rect">
            <a:avLst/>
          </a:prstGeom>
        </p:spPr>
      </p:pic>
      <p:pic>
        <p:nvPicPr>
          <p:cNvPr id="3" name="Picture 2">
            <a:extLst>
              <a:ext uri="{FF2B5EF4-FFF2-40B4-BE49-F238E27FC236}">
                <a16:creationId xmlns:a16="http://schemas.microsoft.com/office/drawing/2014/main" id="{E2E5DCAD-7281-2383-172B-1D8FBC723E9A}"/>
              </a:ext>
            </a:extLst>
          </p:cNvPr>
          <p:cNvPicPr>
            <a:picLocks noChangeAspect="1"/>
          </p:cNvPicPr>
          <p:nvPr/>
        </p:nvPicPr>
        <p:blipFill>
          <a:blip r:embed="rId3"/>
          <a:srcRect b="45192"/>
          <a:stretch/>
        </p:blipFill>
        <p:spPr>
          <a:xfrm>
            <a:off x="279143" y="3548095"/>
            <a:ext cx="5221625" cy="2296651"/>
          </a:xfrm>
          <a:prstGeom prst="rect">
            <a:avLst/>
          </a:prstGeom>
        </p:spPr>
      </p:pic>
      <p:sp>
        <p:nvSpPr>
          <p:cNvPr id="9" name="TextBox 8">
            <a:extLst>
              <a:ext uri="{FF2B5EF4-FFF2-40B4-BE49-F238E27FC236}">
                <a16:creationId xmlns:a16="http://schemas.microsoft.com/office/drawing/2014/main" id="{878475B4-1C3D-4429-C3BE-85F30EE0400B}"/>
              </a:ext>
            </a:extLst>
          </p:cNvPr>
          <p:cNvSpPr txBox="1"/>
          <p:nvPr/>
        </p:nvSpPr>
        <p:spPr>
          <a:xfrm>
            <a:off x="6059054" y="2645922"/>
            <a:ext cx="5527105" cy="3710427"/>
          </a:xfrm>
          <a:prstGeom prst="rect">
            <a:avLst/>
          </a:prstGeom>
        </p:spPr>
        <p:txBody>
          <a:bodyPr vert="horz" lIns="91440" tIns="45720" rIns="91440" bIns="45720" rtlCol="0" anchor="t">
            <a:normAutofit/>
          </a:bodyPr>
          <a:lstStyle/>
          <a:p>
            <a:pPr marL="285750" indent="-228600">
              <a:lnSpc>
                <a:spcPct val="90000"/>
              </a:lnSpc>
              <a:spcAft>
                <a:spcPts val="600"/>
              </a:spcAft>
              <a:buFont typeface="Arial" panose="020B0604020202020204" pitchFamily="34" charset="0"/>
              <a:buChar char="•"/>
            </a:pPr>
            <a:r>
              <a:rPr lang="en-US" sz="1600" b="1" dirty="0">
                <a:latin typeface="Arial" panose="020B0604020202020204" pitchFamily="34" charset="0"/>
                <a:cs typeface="Arial" panose="020B0604020202020204" pitchFamily="34" charset="0"/>
              </a:rPr>
              <a:t>Alpha-fetoprotein (AFP) </a:t>
            </a:r>
            <a:r>
              <a:rPr lang="en-US" sz="1600" dirty="0">
                <a:latin typeface="Arial" panose="020B0604020202020204" pitchFamily="34" charset="0"/>
                <a:cs typeface="Arial" panose="020B0604020202020204" pitchFamily="34" charset="0"/>
              </a:rPr>
              <a:t>is an established biomarker for HCC even though it has been reported that up to 20–40 % of HCC patients’ tumor cells do not secrete AFP proteins and that elevated AFP levels are not exclusive to HCC and may arise from other hepatic pathologies or germ cell tumors.</a:t>
            </a:r>
          </a:p>
          <a:p>
            <a:pPr marL="285750" indent="-228600">
              <a:lnSpc>
                <a:spcPct val="90000"/>
              </a:lnSpc>
              <a:spcAft>
                <a:spcPts val="600"/>
              </a:spcAft>
              <a:buFont typeface="Arial" panose="020B0604020202020204" pitchFamily="34" charset="0"/>
              <a:buChar char="•"/>
            </a:pPr>
            <a:r>
              <a:rPr lang="en-US" sz="1600" dirty="0">
                <a:latin typeface="Arial" panose="020B0604020202020204" pitchFamily="34" charset="0"/>
                <a:cs typeface="Arial" panose="020B0604020202020204" pitchFamily="34" charset="0"/>
              </a:rPr>
              <a:t>T</a:t>
            </a:r>
            <a:r>
              <a:rPr lang="en-US" sz="1600" b="0" i="0" dirty="0">
                <a:effectLst/>
                <a:latin typeface="Arial" panose="020B0604020202020204" pitchFamily="34" charset="0"/>
                <a:cs typeface="Arial" panose="020B0604020202020204" pitchFamily="34" charset="0"/>
              </a:rPr>
              <a:t>he explainability of AFP is unquantifiable due to the absence of discernible inflection points in the SHAP local explanation plot.</a:t>
            </a:r>
          </a:p>
          <a:p>
            <a:pPr marL="285750" indent="-228600">
              <a:lnSpc>
                <a:spcPct val="90000"/>
              </a:lnSpc>
              <a:spcAft>
                <a:spcPts val="600"/>
              </a:spcAft>
              <a:buFont typeface="Arial" panose="020B0604020202020204" pitchFamily="34" charset="0"/>
              <a:buChar char="•"/>
            </a:pPr>
            <a:r>
              <a:rPr lang="en-US" sz="1600" b="0" i="0" dirty="0">
                <a:effectLst/>
                <a:latin typeface="Arial" panose="020B0604020202020204" pitchFamily="34" charset="0"/>
                <a:cs typeface="Arial" panose="020B0604020202020204" pitchFamily="34" charset="0"/>
              </a:rPr>
              <a:t>A composite biomarker panel incorporating TOP3B, SSBP3, and COX7A2L genes surpasses the predictive accuracy of AFP alone, achieving an 85.7 % predictability rate. This enhancement suggests the potential superiority of a multi-biomarker approach over the traditional singular use of AFP.</a:t>
            </a:r>
          </a:p>
        </p:txBody>
      </p:sp>
      <p:cxnSp>
        <p:nvCxnSpPr>
          <p:cNvPr id="28" name="Straight Connector 2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3893"/>
            <a:ext cx="0" cy="3238728"/>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340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94CE-3549-BE24-E849-3F21BD1AF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29DB3-C8B2-F798-5C44-1C6161746EE5}"/>
              </a:ext>
            </a:extLst>
          </p:cNvPr>
          <p:cNvSpPr>
            <a:spLocks noGrp="1"/>
          </p:cNvSpPr>
          <p:nvPr>
            <p:ph type="title"/>
          </p:nvPr>
        </p:nvSpPr>
        <p:spPr>
          <a:xfrm>
            <a:off x="838200" y="365125"/>
            <a:ext cx="9804918" cy="1325563"/>
          </a:xfrm>
        </p:spPr>
        <p:txBody>
          <a:bodyPr>
            <a:normAutofit fontScale="90000"/>
          </a:bodyPr>
          <a:lstStyle/>
          <a:p>
            <a:r>
              <a:rPr lang="en-US" dirty="0"/>
              <a:t>XAI Model Validation - Traditional Survival </a:t>
            </a:r>
            <a:r>
              <a:rPr lang="en-US" dirty="0" err="1"/>
              <a:t>Anaylsis</a:t>
            </a:r>
            <a:endParaRPr lang="en-AE" dirty="0"/>
          </a:p>
        </p:txBody>
      </p:sp>
      <p:sp>
        <p:nvSpPr>
          <p:cNvPr id="4" name="Content Placeholder 3">
            <a:extLst>
              <a:ext uri="{FF2B5EF4-FFF2-40B4-BE49-F238E27FC236}">
                <a16:creationId xmlns:a16="http://schemas.microsoft.com/office/drawing/2014/main" id="{D7BE46CB-DE5D-C3B7-2D72-D57F90AC115A}"/>
              </a:ext>
            </a:extLst>
          </p:cNvPr>
          <p:cNvSpPr>
            <a:spLocks noGrp="1"/>
          </p:cNvSpPr>
          <p:nvPr>
            <p:ph idx="1"/>
          </p:nvPr>
        </p:nvSpPr>
        <p:spPr>
          <a:xfrm>
            <a:off x="838200" y="1825625"/>
            <a:ext cx="10515600" cy="4667250"/>
          </a:xfrm>
        </p:spPr>
        <p:txBody>
          <a:bodyPr/>
          <a:lstStyle/>
          <a:p>
            <a:pPr>
              <a:buFont typeface="Wingdings" panose="05000000000000000000" pitchFamily="2" charset="2"/>
              <a:buChar char="q"/>
            </a:pPr>
            <a:r>
              <a:rPr lang="en-US" sz="1800" dirty="0">
                <a:latin typeface="Arial" panose="020B0604020202020204" pitchFamily="34" charset="0"/>
                <a:cs typeface="Arial" panose="020B0604020202020204" pitchFamily="34" charset="0"/>
              </a:rPr>
              <a:t>To validate the findings, traditional statistical techniques were applied:</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Kaplan-Meier Plots</a:t>
            </a:r>
            <a:r>
              <a:rPr lang="en-US" sz="1800" dirty="0">
                <a:latin typeface="Arial" panose="020B0604020202020204" pitchFamily="34" charset="0"/>
                <a:cs typeface="Arial" panose="020B0604020202020204" pitchFamily="34" charset="0"/>
              </a:rPr>
              <a:t>: Visualized survival differences between groups with high and low gene expression levels.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Log-rank and Mantel-Cox Tests</a:t>
            </a:r>
            <a:r>
              <a:rPr lang="en-US" sz="1800" dirty="0">
                <a:latin typeface="Arial" panose="020B0604020202020204" pitchFamily="34" charset="0"/>
                <a:cs typeface="Arial" panose="020B0604020202020204" pitchFamily="34" charset="0"/>
              </a:rPr>
              <a:t>: Assessed whether survival differences between groups are statistically significant.</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Cox Proportional Hazards Model</a:t>
            </a:r>
            <a:r>
              <a:rPr lang="en-US" sz="1800" dirty="0">
                <a:latin typeface="Arial" panose="020B0604020202020204" pitchFamily="34" charset="0"/>
                <a:cs typeface="Arial" panose="020B0604020202020204" pitchFamily="34" charset="0"/>
              </a:rPr>
              <a:t>: Quantified the hazard ratio for the identified genes, considering a 95% confidence interval.</a:t>
            </a:r>
          </a:p>
          <a:p>
            <a:pPr>
              <a:buFont typeface="Wingdings" panose="05000000000000000000" pitchFamily="2" charset="2"/>
              <a:buChar char="q"/>
            </a:pPr>
            <a:r>
              <a:rPr lang="en-US" sz="1800" b="1" dirty="0">
                <a:latin typeface="Arial" panose="020B0604020202020204" pitchFamily="34" charset="0"/>
                <a:cs typeface="Arial" panose="020B0604020202020204" pitchFamily="34" charset="0"/>
              </a:rPr>
              <a:t>This assessment was conducted using GEPIA2</a:t>
            </a:r>
            <a:r>
              <a:rPr lang="en-US" sz="1800" dirty="0">
                <a:latin typeface="Arial" panose="020B0604020202020204" pitchFamily="34" charset="0"/>
                <a:cs typeface="Arial" panose="020B0604020202020204" pitchFamily="34" charset="0"/>
              </a:rPr>
              <a:t> (an online bioinformatics tool that analyzes RNA sequencing data from The Cancer Genome Atlas (TCGA) and Genotype-Tissue Expression (</a:t>
            </a:r>
            <a:r>
              <a:rPr lang="en-US" sz="1800" dirty="0" err="1">
                <a:latin typeface="Arial" panose="020B0604020202020204" pitchFamily="34" charset="0"/>
                <a:cs typeface="Arial" panose="020B0604020202020204" pitchFamily="34" charset="0"/>
              </a:rPr>
              <a:t>GTEx</a:t>
            </a:r>
            <a:r>
              <a:rPr lang="en-US" sz="1800" dirty="0">
                <a:latin typeface="Arial" panose="020B0604020202020204" pitchFamily="34" charset="0"/>
                <a:cs typeface="Arial" panose="020B0604020202020204" pitchFamily="34" charset="0"/>
              </a:rPr>
              <a:t>) databases) </a:t>
            </a:r>
            <a:r>
              <a:rPr lang="en-US" sz="1800" dirty="0">
                <a:solidFill>
                  <a:srgbClr val="1F1F1F"/>
                </a:solidFill>
                <a:latin typeface="Arial" panose="020B0604020202020204" pitchFamily="34" charset="0"/>
                <a:cs typeface="Arial" panose="020B0604020202020204" pitchFamily="34" charset="0"/>
              </a:rPr>
              <a:t>on</a:t>
            </a:r>
            <a:r>
              <a:rPr lang="en-US" sz="1800" b="0" i="0" dirty="0">
                <a:solidFill>
                  <a:srgbClr val="1F1F1F"/>
                </a:solidFill>
                <a:effectLst/>
                <a:latin typeface="Arial" panose="020B0604020202020204" pitchFamily="34" charset="0"/>
                <a:cs typeface="Arial" panose="020B0604020202020204" pitchFamily="34" charset="0"/>
              </a:rPr>
              <a:t> a dataset of 50 normal liver tissue samples and a total of 419 liver samples.</a:t>
            </a:r>
          </a:p>
          <a:p>
            <a:pPr>
              <a:buFont typeface="Wingdings" panose="05000000000000000000" pitchFamily="2" charset="2"/>
              <a:buChar char="q"/>
            </a:pPr>
            <a:r>
              <a:rPr lang="en-US" sz="1800" dirty="0">
                <a:latin typeface="Arial" panose="020B0604020202020204" pitchFamily="34" charset="0"/>
                <a:cs typeface="Arial" panose="020B0604020202020204" pitchFamily="34" charset="0"/>
              </a:rPr>
              <a:t>Custom cutoff values (derived from XAI) were used to define gene expression thresholds for "high" or "low" expression groups.</a:t>
            </a:r>
          </a:p>
        </p:txBody>
      </p:sp>
    </p:spTree>
    <p:extLst>
      <p:ext uri="{BB962C8B-B14F-4D97-AF65-F5344CB8AC3E}">
        <p14:creationId xmlns:p14="http://schemas.microsoft.com/office/powerpoint/2010/main" val="974452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A856AB-454F-1ECA-8769-682B1005FEF5}"/>
              </a:ext>
            </a:extLst>
          </p:cNvPr>
          <p:cNvPicPr>
            <a:picLocks noChangeAspect="1"/>
          </p:cNvPicPr>
          <p:nvPr/>
        </p:nvPicPr>
        <p:blipFill>
          <a:blip r:embed="rId2"/>
          <a:stretch>
            <a:fillRect/>
          </a:stretch>
        </p:blipFill>
        <p:spPr>
          <a:xfrm>
            <a:off x="830609" y="414337"/>
            <a:ext cx="5953125" cy="6029325"/>
          </a:xfrm>
          <a:prstGeom prst="rect">
            <a:avLst/>
          </a:prstGeom>
        </p:spPr>
      </p:pic>
      <p:sp>
        <p:nvSpPr>
          <p:cNvPr id="5" name="TextBox 4">
            <a:extLst>
              <a:ext uri="{FF2B5EF4-FFF2-40B4-BE49-F238E27FC236}">
                <a16:creationId xmlns:a16="http://schemas.microsoft.com/office/drawing/2014/main" id="{0B9CF23C-5592-12E4-8937-4B4BA0E08D5E}"/>
              </a:ext>
            </a:extLst>
          </p:cNvPr>
          <p:cNvSpPr txBox="1"/>
          <p:nvPr/>
        </p:nvSpPr>
        <p:spPr>
          <a:xfrm>
            <a:off x="6411817" y="1305340"/>
            <a:ext cx="5780183" cy="4247317"/>
          </a:xfrm>
          <a:prstGeom prst="rect">
            <a:avLst/>
          </a:prstGeom>
          <a:noFill/>
        </p:spPr>
        <p:txBody>
          <a:bodyPr wrap="square">
            <a:spAutoFit/>
          </a:bodyPr>
          <a:lstStyle/>
          <a:p>
            <a:pPr marL="742950" lvl="1" indent="-285750">
              <a:buFont typeface="Courier New" panose="02070309020205020404" pitchFamily="49" charset="0"/>
              <a:buChar char="o"/>
            </a:pPr>
            <a:r>
              <a:rPr lang="en-US" b="1"/>
              <a:t>Y-axis (Percent Survival)</a:t>
            </a:r>
            <a:r>
              <a:rPr lang="en-US"/>
              <a:t>: Indicates the proportion of patients surviving at each time point.</a:t>
            </a:r>
          </a:p>
          <a:p>
            <a:pPr marL="742950" lvl="1" indent="-285750">
              <a:buFont typeface="Courier New" panose="02070309020205020404" pitchFamily="49" charset="0"/>
              <a:buChar char="o"/>
            </a:pPr>
            <a:r>
              <a:rPr lang="en-US" b="1"/>
              <a:t>Red Line</a:t>
            </a:r>
            <a:r>
              <a:rPr lang="en-US"/>
              <a:t>: Patients with high expression of the biomarker.</a:t>
            </a:r>
          </a:p>
          <a:p>
            <a:pPr marL="742950" lvl="1" indent="-285750">
              <a:buFont typeface="Courier New" panose="02070309020205020404" pitchFamily="49" charset="0"/>
              <a:buChar char="o"/>
            </a:pPr>
            <a:r>
              <a:rPr lang="en-US" b="1"/>
              <a:t>Blue Line</a:t>
            </a:r>
            <a:r>
              <a:rPr lang="en-US"/>
              <a:t>: Patients with low expression of the biomarker.</a:t>
            </a:r>
            <a:endParaRPr lang="en-US" b="1"/>
          </a:p>
          <a:p>
            <a:pPr marL="742950" lvl="1" indent="-285750">
              <a:buFont typeface="Courier New" panose="02070309020205020404" pitchFamily="49" charset="0"/>
              <a:buChar char="o"/>
            </a:pPr>
            <a:r>
              <a:rPr lang="en-US" b="1"/>
              <a:t>Log-rank p-value</a:t>
            </a:r>
            <a:r>
              <a:rPr lang="en-US"/>
              <a:t>: Tests if the survival difference between the two groups is statistically significant.</a:t>
            </a:r>
          </a:p>
          <a:p>
            <a:pPr marL="742950" lvl="1" indent="-285750">
              <a:buFont typeface="Courier New" panose="02070309020205020404" pitchFamily="49" charset="0"/>
              <a:buChar char="o"/>
            </a:pPr>
            <a:r>
              <a:rPr lang="en-US" b="1"/>
              <a:t>Hazard Ratio (HR)</a:t>
            </a:r>
            <a:r>
              <a:rPr lang="en-US"/>
              <a:t>: Quantifies the risk of death associated with high biomarker expression compared to low expression.</a:t>
            </a:r>
          </a:p>
          <a:p>
            <a:pPr marL="742950" lvl="1" indent="-285750">
              <a:buFont typeface="Courier New" panose="02070309020205020404" pitchFamily="49" charset="0"/>
              <a:buChar char="o"/>
            </a:pPr>
            <a:r>
              <a:rPr lang="en-US" b="1"/>
              <a:t>n(high) and n(low)</a:t>
            </a:r>
            <a:r>
              <a:rPr lang="en-US"/>
              <a:t>: The number of patients in high and low expression groups.</a:t>
            </a:r>
            <a:endParaRPr lang="en-US" dirty="0"/>
          </a:p>
        </p:txBody>
      </p:sp>
    </p:spTree>
    <p:extLst>
      <p:ext uri="{BB962C8B-B14F-4D97-AF65-F5344CB8AC3E}">
        <p14:creationId xmlns:p14="http://schemas.microsoft.com/office/powerpoint/2010/main" val="1794478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6EB7A-8ED0-10AD-7EF5-432153BB05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0F7BDF-ACA7-8A8D-5EA2-93AE7DAFF444}"/>
              </a:ext>
            </a:extLst>
          </p:cNvPr>
          <p:cNvPicPr>
            <a:picLocks noChangeAspect="1"/>
          </p:cNvPicPr>
          <p:nvPr/>
        </p:nvPicPr>
        <p:blipFill>
          <a:blip r:embed="rId2"/>
          <a:stretch>
            <a:fillRect/>
          </a:stretch>
        </p:blipFill>
        <p:spPr>
          <a:xfrm>
            <a:off x="938196" y="468819"/>
            <a:ext cx="5845539" cy="5920362"/>
          </a:xfrm>
          <a:prstGeom prst="rect">
            <a:avLst/>
          </a:prstGeom>
        </p:spPr>
      </p:pic>
      <p:sp>
        <p:nvSpPr>
          <p:cNvPr id="5" name="TextBox 4">
            <a:extLst>
              <a:ext uri="{FF2B5EF4-FFF2-40B4-BE49-F238E27FC236}">
                <a16:creationId xmlns:a16="http://schemas.microsoft.com/office/drawing/2014/main" id="{C4C509AC-39DC-6D22-EA72-202FEC9EA6A6}"/>
              </a:ext>
            </a:extLst>
          </p:cNvPr>
          <p:cNvSpPr txBox="1"/>
          <p:nvPr/>
        </p:nvSpPr>
        <p:spPr>
          <a:xfrm>
            <a:off x="6805769" y="882149"/>
            <a:ext cx="5290753" cy="509370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300" b="1" dirty="0"/>
              <a:t>TOP3B:</a:t>
            </a:r>
          </a:p>
          <a:p>
            <a:pPr>
              <a:buFont typeface="Arial" panose="020B0604020202020204" pitchFamily="34" charset="0"/>
              <a:buChar char="•"/>
            </a:pPr>
            <a:r>
              <a:rPr lang="en-US" sz="1300" b="1" dirty="0"/>
              <a:t> Log-rank p = 0.0075</a:t>
            </a:r>
            <a:r>
              <a:rPr lang="en-US" sz="1300" dirty="0"/>
              <a:t>: Statistically significant survival difference.</a:t>
            </a:r>
          </a:p>
          <a:p>
            <a:pPr>
              <a:buFont typeface="Arial" panose="020B0604020202020204" pitchFamily="34" charset="0"/>
              <a:buChar char="•"/>
            </a:pPr>
            <a:r>
              <a:rPr lang="en-US" sz="1300" b="1" dirty="0"/>
              <a:t> HR(high) = 1.8</a:t>
            </a:r>
            <a:r>
              <a:rPr lang="en-US" sz="1300" dirty="0"/>
              <a:t>: Patients with high TOP3B expression have 1.8 times the risk of death compared to those with low expression.</a:t>
            </a:r>
          </a:p>
          <a:p>
            <a:pPr>
              <a:buFont typeface="Arial" panose="020B0604020202020204" pitchFamily="34" charset="0"/>
              <a:buChar char="•"/>
            </a:pPr>
            <a:r>
              <a:rPr lang="en-US" sz="1300" dirty="0"/>
              <a:t> Conclusion: </a:t>
            </a:r>
            <a:r>
              <a:rPr lang="en-US" sz="1300" b="1" dirty="0"/>
              <a:t>TOP3B</a:t>
            </a:r>
            <a:r>
              <a:rPr lang="en-US" sz="1300" dirty="0"/>
              <a:t> is a significant prognostic biomarker.</a:t>
            </a:r>
          </a:p>
          <a:p>
            <a:endParaRPr lang="en-US" sz="1300" dirty="0"/>
          </a:p>
          <a:p>
            <a:r>
              <a:rPr lang="en-US" sz="1300" b="1" dirty="0"/>
              <a:t>SSBP3:</a:t>
            </a:r>
          </a:p>
          <a:p>
            <a:pPr>
              <a:buFont typeface="Arial" panose="020B0604020202020204" pitchFamily="34" charset="0"/>
              <a:buChar char="•"/>
            </a:pPr>
            <a:r>
              <a:rPr lang="en-US" sz="1300" b="1" dirty="0"/>
              <a:t> Log-rank p = 0.97</a:t>
            </a:r>
            <a:r>
              <a:rPr lang="en-US" sz="1300" dirty="0"/>
              <a:t>: No significant survival difference.</a:t>
            </a:r>
          </a:p>
          <a:p>
            <a:pPr>
              <a:buFont typeface="Arial" panose="020B0604020202020204" pitchFamily="34" charset="0"/>
              <a:buChar char="•"/>
            </a:pPr>
            <a:r>
              <a:rPr lang="en-US" sz="1300" b="1" dirty="0"/>
              <a:t> HR(high) = 1.5</a:t>
            </a:r>
            <a:r>
              <a:rPr lang="en-US" sz="1300" dirty="0"/>
              <a:t>: Suggests higher risk with high expression, but not statistically significant.</a:t>
            </a:r>
          </a:p>
          <a:p>
            <a:pPr>
              <a:buFont typeface="Arial" panose="020B0604020202020204" pitchFamily="34" charset="0"/>
              <a:buChar char="•"/>
            </a:pPr>
            <a:r>
              <a:rPr lang="en-US" sz="1300" dirty="0"/>
              <a:t> Conclusion: </a:t>
            </a:r>
            <a:r>
              <a:rPr lang="en-US" sz="1300" b="1" dirty="0"/>
              <a:t>SSBP3</a:t>
            </a:r>
            <a:r>
              <a:rPr lang="en-US" sz="1300" dirty="0"/>
              <a:t> is not a significant biomarker in this analysis.</a:t>
            </a:r>
          </a:p>
          <a:p>
            <a:endParaRPr lang="en-US" sz="1300" dirty="0"/>
          </a:p>
          <a:p>
            <a:r>
              <a:rPr lang="en-US" sz="1300" b="1" dirty="0"/>
              <a:t>COX7A2L:</a:t>
            </a:r>
          </a:p>
          <a:p>
            <a:pPr>
              <a:buFont typeface="Arial" panose="020B0604020202020204" pitchFamily="34" charset="0"/>
              <a:buChar char="•"/>
            </a:pPr>
            <a:r>
              <a:rPr lang="en-US" sz="1300" b="1" dirty="0"/>
              <a:t> Log-rank p = 0.0062</a:t>
            </a:r>
            <a:r>
              <a:rPr lang="en-US" sz="1300" dirty="0"/>
              <a:t>: Statistically significant survival difference.</a:t>
            </a:r>
          </a:p>
          <a:p>
            <a:pPr>
              <a:buFont typeface="Arial" panose="020B0604020202020204" pitchFamily="34" charset="0"/>
              <a:buChar char="•"/>
            </a:pPr>
            <a:r>
              <a:rPr lang="en-US" sz="1300" b="1" dirty="0"/>
              <a:t> HR(high) = 1.9</a:t>
            </a:r>
            <a:r>
              <a:rPr lang="en-US" sz="1300" dirty="0"/>
              <a:t>: Patients with high COX7A2L expression have 1.9 times the risk of death compared to low expression.</a:t>
            </a:r>
          </a:p>
          <a:p>
            <a:pPr>
              <a:buFont typeface="Arial" panose="020B0604020202020204" pitchFamily="34" charset="0"/>
              <a:buChar char="•"/>
            </a:pPr>
            <a:r>
              <a:rPr lang="en-US" sz="1300" dirty="0"/>
              <a:t> Conclusion: </a:t>
            </a:r>
            <a:r>
              <a:rPr lang="en-US" sz="1300" b="1" dirty="0"/>
              <a:t>COX7A2L</a:t>
            </a:r>
            <a:r>
              <a:rPr lang="en-US" sz="1300" dirty="0"/>
              <a:t> is a significant prognostic biomarker.</a:t>
            </a:r>
          </a:p>
          <a:p>
            <a:endParaRPr lang="en-US" sz="1300" dirty="0"/>
          </a:p>
          <a:p>
            <a:r>
              <a:rPr lang="en-US" sz="1300" b="1" dirty="0"/>
              <a:t>AFP (Alpha-Fetoprotein):</a:t>
            </a:r>
          </a:p>
          <a:p>
            <a:pPr>
              <a:buFont typeface="Arial" panose="020B0604020202020204" pitchFamily="34" charset="0"/>
              <a:buChar char="•"/>
            </a:pPr>
            <a:r>
              <a:rPr lang="en-US" sz="1300" b="1" dirty="0"/>
              <a:t> Log-rank p = 0.42</a:t>
            </a:r>
            <a:r>
              <a:rPr lang="en-US" sz="1300" dirty="0"/>
              <a:t>: No significant survival difference.</a:t>
            </a:r>
          </a:p>
          <a:p>
            <a:pPr>
              <a:buFont typeface="Arial" panose="020B0604020202020204" pitchFamily="34" charset="0"/>
              <a:buChar char="•"/>
            </a:pPr>
            <a:r>
              <a:rPr lang="en-US" sz="1300" b="1" dirty="0"/>
              <a:t> HR(high) = 1.12</a:t>
            </a:r>
            <a:r>
              <a:rPr lang="en-US" sz="1300" dirty="0"/>
              <a:t>: Slightly higher risk with high expression, but not statistically significant.</a:t>
            </a:r>
          </a:p>
          <a:p>
            <a:pPr>
              <a:buFont typeface="Arial" panose="020B0604020202020204" pitchFamily="34" charset="0"/>
              <a:buChar char="•"/>
            </a:pPr>
            <a:r>
              <a:rPr lang="en-US" sz="1300" dirty="0"/>
              <a:t> Conclusion: </a:t>
            </a:r>
            <a:r>
              <a:rPr lang="en-US" sz="1300" b="1" dirty="0"/>
              <a:t>AFP</a:t>
            </a:r>
            <a:r>
              <a:rPr lang="en-US" sz="1300" dirty="0"/>
              <a:t>, a known biomarker for HCC, is not statistically significant here.</a:t>
            </a:r>
          </a:p>
        </p:txBody>
      </p:sp>
    </p:spTree>
    <p:extLst>
      <p:ext uri="{BB962C8B-B14F-4D97-AF65-F5344CB8AC3E}">
        <p14:creationId xmlns:p14="http://schemas.microsoft.com/office/powerpoint/2010/main" val="42854580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2EDB9-20CE-285A-78DE-BBAE6271C2E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B33179-1632-65C6-EE11-F22B6CB23CB1}"/>
              </a:ext>
            </a:extLst>
          </p:cNvPr>
          <p:cNvPicPr>
            <a:picLocks noChangeAspect="1"/>
          </p:cNvPicPr>
          <p:nvPr/>
        </p:nvPicPr>
        <p:blipFill>
          <a:blip r:embed="rId2"/>
          <a:stretch>
            <a:fillRect/>
          </a:stretch>
        </p:blipFill>
        <p:spPr>
          <a:xfrm>
            <a:off x="830609" y="414337"/>
            <a:ext cx="5953125" cy="6029325"/>
          </a:xfrm>
          <a:prstGeom prst="rect">
            <a:avLst/>
          </a:prstGeom>
        </p:spPr>
      </p:pic>
      <p:sp>
        <p:nvSpPr>
          <p:cNvPr id="5" name="TextBox 4">
            <a:extLst>
              <a:ext uri="{FF2B5EF4-FFF2-40B4-BE49-F238E27FC236}">
                <a16:creationId xmlns:a16="http://schemas.microsoft.com/office/drawing/2014/main" id="{25A8F97F-419B-A4DE-A9D3-65235386DAE2}"/>
              </a:ext>
            </a:extLst>
          </p:cNvPr>
          <p:cNvSpPr txBox="1"/>
          <p:nvPr/>
        </p:nvSpPr>
        <p:spPr>
          <a:xfrm>
            <a:off x="6783734" y="1305340"/>
            <a:ext cx="5279736" cy="4247317"/>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1F1F1F"/>
                </a:solidFill>
                <a:effectLst/>
                <a:latin typeface="Arial" panose="020B0604020202020204" pitchFamily="34" charset="0"/>
                <a:cs typeface="Arial" panose="020B0604020202020204" pitchFamily="34" charset="0"/>
              </a:rPr>
              <a:t>The absence of statistical significance is observed not only in SSBP3 but also in AFP. </a:t>
            </a:r>
            <a:endParaRPr lang="en-US" dirty="0">
              <a:solidFill>
                <a:srgbClr val="1F1F1F"/>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solidFill>
                  <a:srgbClr val="1F1F1F"/>
                </a:solidFill>
                <a:effectLst/>
                <a:latin typeface="Arial" panose="020B0604020202020204" pitchFamily="34" charset="0"/>
                <a:cs typeface="Arial" panose="020B0604020202020204" pitchFamily="34" charset="0"/>
              </a:rPr>
              <a:t>This divergence in results obtained from XAI methods compared to those from traditional survival analysis shows that traditional methods for identifying influential biomarkers in HCC may treat the problem as linear and one-dimensional.</a:t>
            </a:r>
            <a:endParaRPr lang="en-US" dirty="0">
              <a:solidFill>
                <a:srgbClr val="1F1F1F"/>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0" i="0" dirty="0">
                <a:solidFill>
                  <a:srgbClr val="1F1F1F"/>
                </a:solidFill>
                <a:effectLst/>
                <a:latin typeface="Arial" panose="020B0604020202020204" pitchFamily="34" charset="0"/>
                <a:cs typeface="Arial" panose="020B0604020202020204" pitchFamily="34" charset="0"/>
              </a:rPr>
              <a:t>This approach might be insufficient for capturing the complexity inherent in the biological interactions that underlie HCC as the identification of critical biomarkers is a non-linear and multi-dimensional challenge that requires the nuanced analysis provided by advanced computational techniques like XAI.</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992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D1B787A8-0D67-4B7E-9B48-86BD906AB6B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F9CBE3F-79A8-4F8F-88D9-DAD03D0D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452E61-7C0B-1E82-3F05-7666A33D6196}"/>
              </a:ext>
            </a:extLst>
          </p:cNvPr>
          <p:cNvSpPr>
            <a:spLocks noGrp="1"/>
          </p:cNvSpPr>
          <p:nvPr>
            <p:ph type="title"/>
          </p:nvPr>
        </p:nvSpPr>
        <p:spPr>
          <a:xfrm>
            <a:off x="1522030" y="1209220"/>
            <a:ext cx="9147940" cy="2337238"/>
          </a:xfrm>
        </p:spPr>
        <p:txBody>
          <a:bodyPr vert="horz" lIns="91440" tIns="45720" rIns="91440" bIns="45720" rtlCol="0" anchor="b">
            <a:normAutofit/>
          </a:bodyPr>
          <a:lstStyle/>
          <a:p>
            <a:pPr algn="ctr"/>
            <a:r>
              <a:rPr lang="en-US" sz="6000" b="1" i="0" kern="1200" cap="all" baseline="0" dirty="0">
                <a:solidFill>
                  <a:schemeClr val="bg1"/>
                </a:solidFill>
                <a:latin typeface="+mj-lt"/>
                <a:ea typeface="+mj-ea"/>
                <a:cs typeface="+mj-cs"/>
              </a:rPr>
              <a:t>Thank you</a:t>
            </a:r>
          </a:p>
        </p:txBody>
      </p:sp>
      <p:sp>
        <p:nvSpPr>
          <p:cNvPr id="11"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1869" y="2383077"/>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bg1"/>
          </a:solidFill>
          <a:ln w="646" cap="flat">
            <a:noFill/>
            <a:prstDash val="solid"/>
            <a:miter/>
          </a:ln>
        </p:spPr>
        <p:txBody>
          <a:bodyPr rtlCol="0" anchor="ctr"/>
          <a:lstStyle/>
          <a:p>
            <a:endParaRPr lang="en-US"/>
          </a:p>
        </p:txBody>
      </p:sp>
      <p:sp>
        <p:nvSpPr>
          <p:cNvPr id="13"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24364" y="2265467"/>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15"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24834" y="253720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a:p>
        </p:txBody>
      </p:sp>
      <p:sp>
        <p:nvSpPr>
          <p:cNvPr id="17"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053" y="283296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chemeClr val="bg1"/>
          </a:solidFill>
          <a:ln w="469" cap="flat">
            <a:noFill/>
            <a:prstDash val="solid"/>
            <a:miter/>
          </a:ln>
        </p:spPr>
        <p:txBody>
          <a:bodyPr rtlCol="0" anchor="ctr"/>
          <a:lstStyle/>
          <a:p>
            <a:endParaRPr lang="en-US"/>
          </a:p>
        </p:txBody>
      </p:sp>
      <p:sp>
        <p:nvSpPr>
          <p:cNvPr id="19"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72266" y="280398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sp>
        <p:nvSpPr>
          <p:cNvPr id="21"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3405" y="324249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bg1"/>
          </a:solidFill>
          <a:ln w="516" cap="flat">
            <a:noFill/>
            <a:prstDash val="solid"/>
            <a:miter/>
          </a:ln>
        </p:spPr>
        <p:txBody>
          <a:bodyPr rtlCol="0" anchor="ctr"/>
          <a:lstStyle/>
          <a:p>
            <a:endParaRPr lang="en-US"/>
          </a:p>
        </p:txBody>
      </p:sp>
      <p:cxnSp>
        <p:nvCxnSpPr>
          <p:cNvPr id="23" name="Straight Connector 22">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831729"/>
            <a:ext cx="12188952"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233458"/>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1798</TotalTime>
  <Words>1970</Words>
  <Application>Microsoft Office PowerPoint</Application>
  <PresentationFormat>Widescreen</PresentationFormat>
  <Paragraphs>125</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Courier New</vt:lpstr>
      <vt:lpstr>ElsevierGulliver</vt:lpstr>
      <vt:lpstr>Univers</vt:lpstr>
      <vt:lpstr>Wingdings</vt:lpstr>
      <vt:lpstr>GradientVTI</vt:lpstr>
      <vt:lpstr>Liver Cancer Detection</vt:lpstr>
      <vt:lpstr>PowerPoint Presentation</vt:lpstr>
      <vt:lpstr>Outline</vt:lpstr>
      <vt:lpstr>Methodology - Overview </vt:lpstr>
      <vt:lpstr>Methodology - Models</vt:lpstr>
      <vt:lpstr>PowerPoint Presentation</vt:lpstr>
      <vt:lpstr>Methodology - Dataset</vt:lpstr>
      <vt:lpstr>Methodology – XAI Approach</vt:lpstr>
      <vt:lpstr>PowerPoint Presentation</vt:lpstr>
      <vt:lpstr>Methodology – XAI Approach</vt:lpstr>
      <vt:lpstr>Methodology – XAI Approach</vt:lpstr>
      <vt:lpstr>Methodology – XAI Approach</vt:lpstr>
      <vt:lpstr>PowerPoint Presentation</vt:lpstr>
      <vt:lpstr>PowerPoint Presentation</vt:lpstr>
      <vt:lpstr>PowerPoint Presentation</vt:lpstr>
      <vt:lpstr>XAI Model Validation</vt:lpstr>
      <vt:lpstr>XAI Model Validation</vt:lpstr>
      <vt:lpstr>XAI Model Validation</vt:lpstr>
      <vt:lpstr>XAI Model Validation</vt:lpstr>
      <vt:lpstr>Study Findings</vt:lpstr>
      <vt:lpstr>XAI Model Validation - Traditional Survival Anaylsis</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Liver Cancer Detection</dc:title>
  <dc:creator>Ahmed Ammar Abduladheem Kubba</dc:creator>
  <cp:lastModifiedBy>Ahmed Ammar</cp:lastModifiedBy>
  <cp:revision>25</cp:revision>
  <dcterms:created xsi:type="dcterms:W3CDTF">2024-01-16T01:39:30Z</dcterms:created>
  <dcterms:modified xsi:type="dcterms:W3CDTF">2024-11-25T11:04:26Z</dcterms:modified>
</cp:coreProperties>
</file>